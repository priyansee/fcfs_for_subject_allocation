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457200"/>
            <a:ext cx="1859797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t>Implementation of FCFS Algorithm for Subject Allocation</a:t>
            </a:r>
          </a:p>
          <a:p>
            <a:pPr algn="ctr">
              <a:defRPr sz="1800">
                <a:solidFill>
                  <a:srgbClr val="555555"/>
                </a:solidFill>
              </a:defRPr>
            </a:pPr>
            <a:r>
              <a:t>A High-Concurrency Concurrency-Safe Registration System using Pessimistic Locking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PRESENTED BY</a:t>
            </a:r>
          </a:p>
          <a:p>
            <a:pPr>
              <a:defRPr sz="1400" b="1"/>
            </a:pPr>
            <a:r>
              <a:t>Priyansee Mukeshkumar Soni</a:t>
            </a:r>
          </a:p>
          <a:p>
            <a:pPr>
              <a:defRPr sz="1200"/>
            </a:pPr>
            <a:r>
              <a:t>ID: 202511011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SUPERVISED BY</a:t>
            </a:r>
          </a:p>
          <a:p>
            <a:pPr>
              <a:defRPr sz="1400" b="1"/>
            </a:pPr>
            <a:r>
              <a:t>Prof. P M Jat</a:t>
            </a:r>
          </a:p>
          <a:p>
            <a:pPr>
              <a:defRPr sz="1200"/>
            </a:pPr>
            <a:r>
              <a:t>M.Tech ICT, DAU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Problem Statement: The Race Condition</a:t>
            </a:r>
          </a:p>
          <a:p>
            <a:r>
              <a:t>• Barging &amp; Fairness Violation</a:t>
            </a:r>
          </a:p>
          <a:p>
            <a:r>
              <a:t>• Motivation: Why this Matters</a:t>
            </a:r>
          </a:p>
          <a:p>
            <a:r>
              <a:t>• Design Objectives</a:t>
            </a:r>
          </a:p>
          <a:p>
            <a:r>
              <a:t>• Technology Stack</a:t>
            </a:r>
          </a:p>
          <a:p>
            <a:r>
              <a:t>• System Architecture Overview</a:t>
            </a:r>
          </a:p>
          <a:p>
            <a:r>
              <a:t>• Architecture Explanation</a:t>
            </a:r>
          </a:p>
          <a:p>
            <a:r>
              <a:t>• Database Design &amp; Schema</a:t>
            </a:r>
            <a:br/>
            <a:r>
              <a:t>• The Three-Phase FCFS Algorithm</a:t>
            </a:r>
            <a:br/>
            <a:r>
              <a:t>• Phase 0: The Wait-Free Doorway</a:t>
            </a:r>
            <a:br/>
            <a:r>
              <a:t>• Phase 1 &amp; 2: Locking &amp; Commit</a:t>
            </a:r>
            <a:br/>
            <a:r>
              <a:t>• Concurrency Handling Visualization</a:t>
            </a:r>
            <a:br/>
            <a:r>
              <a:t>• Deadlock Prevention Strategy</a:t>
            </a:r>
            <a:br/>
            <a:r>
              <a:t>• Case Study: Hibernate Cache Bug</a:t>
            </a:r>
            <a:br/>
            <a:r>
              <a:t>• Results &amp; Key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The Problem: Transactional Race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Concurrent read-modify-write operations on un-synchronized resources lead to "Lost Updates".</a:t>
            </a:r>
          </a:p>
          <a:p>
            <a:pPr/>
            <a:r>
              <a:t>• Lost Update Phenomenon: Occurs when concurrent transactions read identical state, leading to overwriting of allocation counts.</a:t>
            </a:r>
          </a:p>
          <a:p>
            <a:pPr/>
            <a:r>
              <a:t>• Integrity Breach: Without synchronization, the database fails to enforce the physical limit of available resources.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Barging &amp; Fairness Violation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Optimistic locking with retries destroys the "First-Come-First-Serve" requirement.</a:t>
            </a:r>
          </a:p>
          <a:p>
            <a:r>
              <a:t>• The Barging Problem: Later requests can acquire locks while earlier requests are in a "back-off" or retry state.</a:t>
            </a:r>
          </a:p>
          <a:p>
            <a:r>
              <a:t>• Fairness Guarantee: Strict FCFS ensures that temporal priority is the only factor in resource acquisition.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Design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FCFS Fairness: Requests that arrive earlier must be served before later ones.</a:t>
            </a:r>
          </a:p>
          <a:p>
            <a:r>
              <a:t>• Deadlock Freedom: Concurrent transactions must never stall each other in circular lock waits.</a:t>
            </a:r>
          </a:p>
          <a:p>
            <a:r>
              <a:t>• Atomicity: A student is enrolled in all courses within a slot, or none.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Java 21 (LTS) &amp; Spring Boot 3.x</a:t>
            </a:r>
          </a:p>
          <a:p>
            <a:r>
              <a:t>• PostgreSQL 16 &amp; Hibernate 6</a:t>
            </a:r>
          </a:p>
          <a:p>
            <a:r>
              <a:t>• HikariCP Connection Pooling</a:t>
            </a:r>
          </a:p>
          <a:p>
            <a:r>
              <a:t>• Thymeleaf / HTML5</a:t>
            </a:r>
          </a:p>
          <a:p>
            <a:r>
              <a:t>• Maven Build System</a:t>
            </a:r>
          </a:p>
          <a:p>
            <a:r>
              <a:t>• Embedded Tomcat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System Architecture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Browser (Thymeleaf / CSS)</a:t>
            </a:r>
          </a:p>
          <a:p>
            <a:r>
              <a:t>2. Web Layer: RegistrationController</a:t>
            </a:r>
          </a:p>
          <a:p>
            <a:r>
              <a:t>3. Service Layer: AllocationService (@Transactional)</a:t>
            </a:r>
          </a:p>
          <a:p>
            <a:r>
              <a:t>4. Data Layer: Spring Data JPA (Hibernate)</a:t>
            </a:r>
          </a:p>
          <a:p>
            <a:r>
              <a:t>5. Database: PostgreSQL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Full Stack – Layered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Client Layer: Captures intent via POST form.</a:t>
            </a:r>
          </a:p>
          <a:p>
            <a:r>
              <a:t>2. Web Layer: Maps request to system logic.</a:t>
            </a:r>
          </a:p>
          <a:p>
            <a:r>
              <a:t>3. Service Layer: Enforces 3-phase FCFS algorithm.</a:t>
            </a:r>
          </a:p>
          <a:p>
            <a:r>
              <a:t>4. Persistence Layer: Translates Java to SQL with Locks.</a:t>
            </a:r>
          </a:p>
          <a:p>
            <a:r>
              <a:t>5. Database Layer: Physically serializes threads via Row Locks.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Database Design – Full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ec2.courses: Base subject definitions</a:t>
            </a:r>
          </a:p>
          <a:p>
            <a:r>
              <a:t>• ec2.termcourses: Slot definitions</a:t>
            </a:r>
          </a:p>
          <a:p>
            <a:r>
              <a:t>• ec2.termcourseavailablefor: LOCKING TARGET (Seats/Booked)</a:t>
            </a:r>
          </a:p>
          <a:p>
            <a:r>
              <a:t>• ec2.studentregistration: Student term records</a:t>
            </a:r>
          </a:p>
          <a:p>
            <a:r>
              <a:t>• ec2.studentregistrationcourses: Allocation mapping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FCFS Algorithm – High-Level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0: VALIDATE (Wait-Free Discovery)</a:t>
            </a:r>
          </a:p>
          <a:p>
            <a:r>
              <a:t>Phase 1: LOCK (Acquiring Row Locks in Sorted Order)</a:t>
            </a:r>
          </a:p>
          <a:p>
            <a:r>
              <a:t>Phase 2: COMMIT (Atomic Capacity Check &amp; Update)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Formal Algorithm: FCFS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Step 1: Start Transaction, Fetch IDs, Validate Eligibility.</a:t>
            </a:r>
          </a:p>
          <a:p>
            <a:r>
              <a:t>Step 2: Sort IDs, Acquire SELECT FOR NO KEY UPDATE locks.</a:t>
            </a:r>
          </a:p>
          <a:p>
            <a:r>
              <a:t>Step 3: Verify Capacity, Update Booked Count, Insert Enrollment, Commit.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System Sequence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4096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Phase 0: Discovery (Wait-Free)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List&lt;Long&gt; tcaIds = repo.findTcaIdsBySlot(slotId);</a:t>
            </a:r>
          </a:p>
          <a:p>
            <a:r>
              <a:t>if (alreadyEnrolled(studentId)) throw AlreadyEnrolledException();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Phase 1: Growing (Acquiring Locks)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Collections.sort(tcaIds);</a:t>
            </a:r>
          </a:p>
          <a:p>
            <a:r>
              <a:t>for (Long id : tcaIds) {</a:t>
            </a:r>
          </a:p>
          <a:p>
            <a:r>
              <a:t>    repo.findTcafByIdWithLock(id);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Phase 2: Atomic Commitment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if (booked &gt;= seats) throw SlotFullException();</a:t>
            </a:r>
          </a:p>
          <a:p>
            <a:r>
              <a:t>updateBookedCount();</a:t>
            </a:r>
          </a:p>
          <a:p>
            <a:r>
              <a:t>saveEnrollment();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Concurrency: Holder vs. Waiters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Transaction A: LOCK HOLDER (Executing logic)</a:t>
            </a:r>
          </a:p>
          <a:p>
            <a:r>
              <a:t>• Transaction B &amp; C: WAITING (Blocked at SELECT FOR UPDATE)</a:t>
            </a:r>
          </a:p>
          <a:p>
            <a:r>
              <a:t>• FIFO Queueing: PostgreSQL manages wait-order.</a:t>
            </a:r>
          </a:p>
          <a:p>
            <a:r>
              <a:t>• Lock Persistence: Released only on COMMIT.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Deadlock Prevention: Global 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Sorting TCA_IDs eliminates Circular Wait.</a:t>
            </a:r>
          </a:p>
          <a:p>
            <a:r>
              <a:t>• Deterministic acquisition order makes deadlock structurally impossible.</a:t>
            </a:r>
          </a:p>
          <a:p>
            <a:r>
              <a:t>• Removes need for expensive deadlock detection at runtime.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Technical Validation: Terminal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ermina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9898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Empirical Results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1,000 Concurrent Threads Tested</a:t>
            </a:r>
          </a:p>
          <a:p>
            <a:r>
              <a:t>• 20 Successful Allocations (Total Seats)</a:t>
            </a:r>
          </a:p>
          <a:p>
            <a:r>
              <a:t>• 980 Rejections (Correctly Handled)</a:t>
            </a:r>
          </a:p>
          <a:p>
            <a:r>
              <a:t>• 0 Overbooked | 0 Duplicates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Other Key Engineering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ddl-auto=validate: Prevents schema corruption.</a:t>
            </a:r>
          </a:p>
          <a:p>
            <a:r>
              <a:t>• HikariCP Caps: Managed connection pressure.</a:t>
            </a:r>
          </a:p>
          <a:p>
            <a:r>
              <a:t>• UUID/Long PKs: Scalable indexing for locks.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i="1"/>
            </a:pPr>
            <a:r>
              <a:t>"Elective registration is a test of database integrity, not just application logic. Through pessimistic locking and sorted acquisition, we achieved 100% safety with zero overbookings."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/>
            </a:pPr>
            <a:r>
              <a:t>Thank You</a:t>
            </a:r>
          </a:p>
          <a:p>
            <a:pPr algn="ctr">
              <a:defRPr sz="2400">
                <a:solidFill>
                  <a:srgbClr val="555555"/>
                </a:solidFill>
              </a:defRPr>
            </a:pPr>
            <a:r>
              <a:t>Questions? Discussions? Feedback?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