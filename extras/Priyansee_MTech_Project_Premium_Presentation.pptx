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7" y="914400"/>
            <a:ext cx="1859797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Implementation of FCFS Algorithm for Subject Allocation</a:t>
            </a:r>
          </a:p>
          <a:p>
            <a:pPr algn="ctr">
              <a:defRPr sz="2000">
                <a:solidFill>
                  <a:srgbClr val="555555"/>
                </a:solidFill>
              </a:defRPr>
            </a:pPr>
            <a:r>
              <a:t>A High-Concurrency Concurrency-Safe Registration System using Pessimistic 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PRESENTED BY</a:t>
            </a:r>
            <a:br/>
            <a:r>
              <a:t>Priyansee Mukeshkumar Soni</a:t>
            </a:r>
            <a:br/>
            <a:r>
              <a:t>ID: 202511011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572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SUPERVISED BY</a:t>
            </a:r>
            <a:br/>
            <a:r>
              <a:t>Prof. P M Jat</a:t>
            </a:r>
            <a:br/>
            <a:r>
              <a:t>M.Tech ICT, DAU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Presentation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Problem Statement: The Race Condition</a:t>
            </a:r>
          </a:p>
          <a:p>
            <a:pPr>
              <a:defRPr sz="1600"/>
            </a:pPr>
            <a:r>
              <a:t>• Barging &amp; Fairness Violation</a:t>
            </a:r>
          </a:p>
          <a:p>
            <a:pPr>
              <a:defRPr sz="1600"/>
            </a:pPr>
            <a:r>
              <a:t>• Motivation: Why this Matters</a:t>
            </a:r>
          </a:p>
          <a:p>
            <a:pPr>
              <a:defRPr sz="1600"/>
            </a:pPr>
            <a:r>
              <a:t>• Design Objectives</a:t>
            </a:r>
          </a:p>
          <a:p>
            <a:pPr>
              <a:defRPr sz="1600"/>
            </a:pPr>
            <a:r>
              <a:t>• Technology Stack</a:t>
            </a:r>
          </a:p>
          <a:p>
            <a:pPr>
              <a:defRPr sz="1600"/>
            </a:pPr>
            <a:r>
              <a:t>• System Architecture Overview</a:t>
            </a:r>
          </a:p>
          <a:p>
            <a:pPr>
              <a:defRPr sz="1600"/>
            </a:pPr>
            <a:r>
              <a:t>• Layered Architecture Interaction</a:t>
            </a:r>
          </a:p>
          <a:p>
            <a:pPr>
              <a:defRPr sz="1600"/>
            </a:pPr>
            <a:r>
              <a:t>• Database Design &amp; Schema</a:t>
            </a:r>
          </a:p>
          <a:p>
            <a:pPr>
              <a:defRPr sz="1600"/>
            </a:pPr>
            <a:r>
              <a:t>• FCFS High-Level Flow</a:t>
            </a:r>
          </a:p>
          <a:p>
            <a:pPr>
              <a:defRPr sz="1600"/>
            </a:pPr>
            <a:r>
              <a:t>• Formal Algorithm</a:t>
            </a:r>
          </a:p>
          <a:p>
            <a:pPr>
              <a:defRPr sz="1600"/>
            </a:pPr>
            <a:r>
              <a:t>• Sequence Diagram</a:t>
            </a:r>
          </a:p>
          <a:p>
            <a:pPr>
              <a:defRPr sz="1600"/>
            </a:pPr>
            <a:r>
              <a:t>• Phase 0, 1, 2 Implementation</a:t>
            </a:r>
          </a:p>
          <a:p>
            <a:pPr>
              <a:defRPr sz="1600"/>
            </a:pPr>
            <a:r>
              <a:t>• Concurrency: Holder vs Waiters</a:t>
            </a:r>
          </a:p>
          <a:p>
            <a:pPr>
              <a:defRPr sz="1600"/>
            </a:pPr>
            <a:r>
              <a:t>• Deadlock Prevention</a:t>
            </a:r>
          </a:p>
          <a:p>
            <a:pPr>
              <a:defRPr sz="1600"/>
            </a:pPr>
            <a:r>
              <a:t>• Results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Problem: Transactional Race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Concurrent read-modify-write operations on un-synchronized resources lead to "Lost Updates".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029200"/>
            <a:ext cx="8229600" cy="109728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5120640"/>
            <a:ext cx="54864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1206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2626"/>
                </a:solidFill>
              </a:defRPr>
            </a:pPr>
            <a:r>
              <a:t>Lost Update Phenomenon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440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Occurs when concurrent transactions read identical state, leading to overwriting of allocation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Barging &amp; Fairness Violation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29200"/>
            <a:ext cx="8229600" cy="109728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5120640"/>
            <a:ext cx="54864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1206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2626"/>
                </a:solidFill>
              </a:defRPr>
            </a:pPr>
            <a:r>
              <a:t>The Barging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440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Later requests can acquire locks while earlier requests are in a "back-off" or retry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Design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9144000" cy="100584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10312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FCFS 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Requests that arrive earlier must be served before later ones — no thread barging allowed.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00400"/>
            <a:ext cx="9144000" cy="100584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29184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29184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2626"/>
                </a:solidFill>
              </a:defRPr>
            </a:pPr>
            <a:r>
              <a:t>Deadlock Freedom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Concurrent transactions must never stall each other in circular lock waits.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389120"/>
            <a:ext cx="9144000" cy="100584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480560"/>
            <a:ext cx="54864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6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Atomicity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0060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A student is enrolled in all courses within a slot, or none — no partial allocations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Java 21 (LTS)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0116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Spring Boot 3.x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PostgreSQL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116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Hibernate 6 / JPA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3832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HikariCP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3832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657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Thymeleaf / HTML5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3832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Maven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383280"/>
            <a:ext cx="2286000" cy="914400"/>
          </a:xfrm>
          <a:prstGeom prst="rect">
            <a:avLst/>
          </a:prstGeom>
          <a:solidFill>
            <a:srgbClr val="F9F9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657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Embedded Tomcat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System Architecture –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/>
            </a:pPr>
            <a:r>
              <a:t>Browser</a:t>
            </a:r>
          </a:p>
          <a:p>
            <a:pPr algn="ctr">
              <a:defRPr b="1"/>
            </a:pPr>
            <a:r>
              <a:t>↓</a:t>
            </a:r>
          </a:p>
          <a:p>
            <a:pPr algn="ctr">
              <a:defRPr b="1"/>
            </a:pPr>
            <a:r>
              <a:t>RegistrationController</a:t>
            </a:r>
          </a:p>
          <a:p>
            <a:pPr algn="ctr">
              <a:defRPr b="1"/>
            </a:pPr>
            <a:r>
              <a:t>↓</a:t>
            </a:r>
          </a:p>
          <a:p>
            <a:pPr algn="ctr">
              <a:defRPr b="1"/>
            </a:pPr>
            <a:r>
              <a:t>AllocationService</a:t>
            </a:r>
          </a:p>
          <a:p>
            <a:pPr algn="ctr">
              <a:defRPr b="1"/>
            </a:pPr>
            <a:r>
              <a:t>↓</a:t>
            </a:r>
          </a:p>
          <a:p>
            <a:pPr algn="ctr">
              <a:defRPr b="1"/>
            </a:pPr>
            <a:r>
              <a:t>Spring Data JPA</a:t>
            </a:r>
          </a:p>
          <a:p>
            <a:pPr algn="ctr">
              <a:defRPr b="1"/>
            </a:pPr>
            <a:r>
              <a:t>↓</a:t>
            </a:r>
          </a:p>
          <a:p>
            <a:pPr algn="ctr">
              <a:defRPr b="1"/>
            </a:pPr>
            <a:r>
              <a:t>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Full Stack – Layered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332720" cy="82296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54864" cy="640080"/>
          </a:xfrm>
          <a:prstGeom prst="rect">
            <a:avLst/>
          </a:prstGeom>
          <a:solidFill>
            <a:srgbClr val="E34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34F26"/>
                </a:solidFill>
              </a:defRPr>
            </a:pPr>
            <a:r>
              <a:t>1. 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POST form submission | Code: form action='/register'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10332720" cy="82296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83464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2. Web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546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Request Mapping | Code: RegistrationController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10332720" cy="82296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749040"/>
            <a:ext cx="54864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3. Service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Business Logic &amp; Tx | Code: AllocationService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10332720" cy="82296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663440"/>
            <a:ext cx="54864" cy="64008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634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6DB33F"/>
                </a:solidFill>
              </a:defRPr>
            </a:pPr>
            <a:r>
              <a:t>4. Persistence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83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SQL Translation &amp; Locks | Code: @Lock(PESSIMISTIC_WRITE)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86400"/>
            <a:ext cx="10332720" cy="82296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54864" cy="640080"/>
          </a:xfrm>
          <a:prstGeom prst="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36791"/>
                </a:solidFill>
              </a:defRPr>
            </a:pPr>
            <a:r>
              <a:t>5. Database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978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Row-Level Serialization | Code: FOR NO KEY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Database Design – Full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3200400" cy="13716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54864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courses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crsid (PK)</a:t>
            </a:r>
            <a:br/>
            <a:r>
              <a:t>crsname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200400" cy="13716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54864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termcourses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tcrid (PK)</a:t>
            </a:r>
            <a:br/>
            <a:r>
              <a:t>crsid (FK)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011680"/>
            <a:ext cx="3200400" cy="13716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103120"/>
            <a:ext cx="54864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031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2626"/>
                </a:solidFill>
              </a:defRPr>
            </a:pPr>
            <a:r>
              <a:t>termcourseavailablefor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42316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tcaid (PK)</a:t>
            </a:r>
            <a:br/>
            <a:r>
              <a:t>tca_seats</a:t>
            </a:r>
            <a:br/>
            <a:r>
              <a:t>tca_booked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FCFS Algorithm – High-Level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1. VALIDATE (Phase 0) ➔ 2. LOCK (Phase 1) ➔ 3. COMMIT (Phase 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Formal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solidFill>
            <a:srgbClr val="1E1E1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Step 1: Start Transaction, Fetch IDs, Validate Eligibility</a:t>
            </a:r>
            <a:br/>
            <a:r>
              <a:t>Step 2: Sort IDs, Acquire Pessimistic Locks (FOR NO KEY UPDATE)</a:t>
            </a:r>
            <a:br/>
            <a:r>
              <a:t>Step 3: Verify Capacity, Atomic Update, Commit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System Sequence Diagram</a:t>
            </a:r>
          </a:p>
        </p:txBody>
      </p:sp>
      <p:pic>
        <p:nvPicPr>
          <p:cNvPr id="7" name="Picture 6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54409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Phase 0: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solidFill>
            <a:srgbClr val="1E1E1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List&lt;Long&gt; tcaIds = repo.findTcaIdsBySlot(slot);</a:t>
            </a:r>
            <a:br/>
            <a:r>
              <a:t>countBySrcsrgid(registration.getSrgid()) &gt; 0;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Phase 1: Locking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solidFill>
            <a:srgbClr val="1E1E1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Collections.sort(tcaIds);</a:t>
            </a:r>
            <a:br/>
            <a:r>
              <a:t>repo.findTcafByIdWithLock(id);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Phase 2: Commitment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solidFill>
            <a:srgbClr val="1E1E1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if (booked &gt;= seats) throw RuntimeException();</a:t>
            </a:r>
            <a:br/>
            <a:r>
              <a:t>repo.save(lockedTca);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Concurrency: Holder vs Waiters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05840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54864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A34A"/>
                </a:solidFill>
              </a:defRPr>
            </a:pPr>
            <a:r>
              <a:t>Transaction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LOCK HOLDER - Executing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1005840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017520"/>
            <a:ext cx="54864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2626"/>
                </a:solidFill>
              </a:defRPr>
            </a:pPr>
            <a:r>
              <a:t>Transaction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WAITING - Blocked at SELECT FOR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23360"/>
            <a:ext cx="1005840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114800"/>
            <a:ext cx="54864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2626"/>
                </a:solidFill>
              </a:defRPr>
            </a:pPr>
            <a:r>
              <a:t>Transaction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WAITING - Blocked at SELECT FOR UPDATE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Deadlock Prevention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144000" cy="13716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54864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Global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Sorting resource IDs eliminates Circular Wait. Ensures deterministic acquisition order.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Technical Validation: Terminal Logs</a:t>
            </a:r>
          </a:p>
        </p:txBody>
      </p:sp>
      <p:pic>
        <p:nvPicPr>
          <p:cNvPr id="7" name="Picture 6" descr="termin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614424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Empirical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2286000" cy="18288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54864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0000"/>
                </a:solidFill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ALLOCATED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86000"/>
            <a:ext cx="2286000" cy="18288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377440"/>
            <a:ext cx="54864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377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0000"/>
                </a:solidFill>
              </a:defRPr>
            </a:pPr>
            <a:r>
              <a:t>980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9748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2286000" cy="18288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54864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0000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OVERBOOKED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286000"/>
            <a:ext cx="2286000" cy="18288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377440"/>
            <a:ext cx="54864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0000"/>
                </a:solidFill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69748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DUPLICATES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Other Key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005840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54864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ddl-auto=validate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Prevents schema corruption.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1005840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54864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HikariCP max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Managed connection pressure.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144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"Elective registration is a test of database integrity, not just application logic. Achieved 100% safety with zero overbookings."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M.TECH MINOR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1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Thank You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