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5167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Shape 1"/>
          <p:cNvSpPr/>
          <p:nvPr/>
        </p:nvSpPr>
        <p:spPr>
          <a:xfrm>
            <a:off x="0" y="5070348"/>
            <a:ext cx="9144000" cy="73152"/>
          </a:xfrm>
          <a:prstGeom prst="rect">
            <a:avLst/>
          </a:prstGeom>
          <a:solidFill>
            <a:srgbClr val="F59E0B"/>
          </a:solidFill>
          <a:ln w="12700">
            <a:solidFill>
              <a:srgbClr val="F59E0B"/>
            </a:solidFill>
            <a:prstDash val="solid"/>
          </a:ln>
        </p:spPr>
      </p:sp>
      <p:sp>
        <p:nvSpPr>
          <p:cNvPr id="4" name="Shape 2"/>
          <p:cNvSpPr/>
          <p:nvPr/>
        </p:nvSpPr>
        <p:spPr>
          <a:xfrm>
            <a:off x="6217920" y="73152"/>
            <a:ext cx="2926080" cy="4997196"/>
          </a:xfrm>
          <a:prstGeom prst="rect">
            <a:avLst/>
          </a:prstGeom>
          <a:solidFill>
            <a:srgbClr val="1E4D8C"/>
          </a:solidFill>
          <a:ln w="12700">
            <a:solidFill>
              <a:srgbClr val="1E4D8C"/>
            </a:solidFill>
            <a:prstDash val="solid"/>
          </a:ln>
        </p:spPr>
      </p:sp>
      <p:sp>
        <p:nvSpPr>
          <p:cNvPr id="5" name="Shape 3"/>
          <p:cNvSpPr/>
          <p:nvPr/>
        </p:nvSpPr>
        <p:spPr>
          <a:xfrm>
            <a:off x="6858000" y="731520"/>
            <a:ext cx="1280160" cy="1280160"/>
          </a:xfrm>
          <a:prstGeom prst="ellipse">
            <a:avLst/>
          </a:prstGeom>
          <a:solidFill>
            <a:srgbClr val="2E6DB4">
              <a:alpha val="85000"/>
            </a:srgbClr>
          </a:solidFill>
          <a:ln w="12700">
            <a:solidFill>
              <a:srgbClr val="2E6DB4">
                <a:alpha val="40000"/>
              </a:srgbClr>
            </a:solidFill>
            <a:prstDash val="solid"/>
          </a:ln>
        </p:spPr>
      </p:sp>
      <p:sp>
        <p:nvSpPr>
          <p:cNvPr id="6" name="Shape 4"/>
          <p:cNvSpPr/>
          <p:nvPr/>
        </p:nvSpPr>
        <p:spPr>
          <a:xfrm>
            <a:off x="7863840" y="2103120"/>
            <a:ext cx="1645920" cy="1645920"/>
          </a:xfrm>
          <a:prstGeom prst="ellipse">
            <a:avLst/>
          </a:prstGeom>
          <a:solidFill>
            <a:srgbClr val="2E6DB4">
              <a:alpha val="90000"/>
            </a:srgbClr>
          </a:solidFill>
          <a:ln w="12700">
            <a:solidFill>
              <a:srgbClr val="2E6DB4">
                <a:alpha val="40000"/>
              </a:srgbClr>
            </a:solidFill>
            <a:prstDash val="solid"/>
          </a:ln>
        </p:spPr>
      </p:sp>
      <p:sp>
        <p:nvSpPr>
          <p:cNvPr id="7" name="Shape 5"/>
          <p:cNvSpPr/>
          <p:nvPr/>
        </p:nvSpPr>
        <p:spPr>
          <a:xfrm>
            <a:off x="6263640" y="3429000"/>
            <a:ext cx="822960" cy="822960"/>
          </a:xfrm>
          <a:prstGeom prst="ellipse">
            <a:avLst/>
          </a:prstGeom>
          <a:solidFill>
            <a:srgbClr val="2E6DB4">
              <a:alpha val="80000"/>
            </a:srgbClr>
          </a:solidFill>
          <a:ln w="12700">
            <a:solidFill>
              <a:srgbClr val="2E6DB4">
                <a:alpha val="40000"/>
              </a:srgbClr>
            </a:solidFill>
            <a:prstDash val="solid"/>
          </a:ln>
        </p:spPr>
      </p:sp>
      <p:sp>
        <p:nvSpPr>
          <p:cNvPr id="8" name="Shape 6"/>
          <p:cNvSpPr/>
          <p:nvPr/>
        </p:nvSpPr>
        <p:spPr>
          <a:xfrm>
            <a:off x="457200" y="365760"/>
            <a:ext cx="5394960" cy="320040"/>
          </a:xfrm>
          <a:prstGeom prst="rect">
            <a:avLst/>
          </a:prstGeom>
          <a:solidFill>
            <a:srgbClr val="2E6DB4"/>
          </a:solidFill>
          <a:ln w="12700">
            <a:solidFill>
              <a:srgbClr val="2E6DB4"/>
            </a:solidFill>
            <a:prstDash val="solid"/>
          </a:ln>
        </p:spPr>
      </p:sp>
      <p:sp>
        <p:nvSpPr>
          <p:cNvPr id="9" name="Text 7"/>
          <p:cNvSpPr/>
          <p:nvPr/>
        </p:nvSpPr>
        <p:spPr>
          <a:xfrm>
            <a:off x="457200" y="365760"/>
            <a:ext cx="539496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Dhirubhai Ambani University · MTech (ICT) Minor Project</a:t>
            </a:r>
            <a:endParaRPr lang="en-US" sz="1000" dirty="0"/>
          </a:p>
        </p:txBody>
      </p:sp>
      <p:sp>
        <p:nvSpPr>
          <p:cNvPr id="10" name="Text 8"/>
          <p:cNvSpPr/>
          <p:nvPr/>
        </p:nvSpPr>
        <p:spPr>
          <a:xfrm>
            <a:off x="457200" y="914400"/>
            <a:ext cx="5486400" cy="502920"/>
          </a:xfrm>
          <a:prstGeom prst="rect">
            <a:avLst/>
          </a:prstGeom>
          <a:noFill/>
          <a:ln/>
        </p:spPr>
        <p:txBody>
          <a:bodyPr wrap="square" lIns="0" tIns="0" rIns="0" bIns="0" rtlCol="0" anchor="ctr"/>
          <a:lstStyle/>
          <a:p>
            <a:pPr marL="0" indent="0">
              <a:buNone/>
            </a:pPr>
            <a:r>
              <a:rPr lang="en-US" sz="2800" dirty="0">
                <a:solidFill>
                  <a:srgbClr val="D6E4F7"/>
                </a:solidFill>
                <a:latin typeface="Cambria" pitchFamily="34" charset="0"/>
                <a:ea typeface="Cambria" pitchFamily="34" charset="-122"/>
                <a:cs typeface="Cambria" pitchFamily="34" charset="-120"/>
              </a:rPr>
              <a:t>Implementation of</a:t>
            </a:r>
            <a:endParaRPr lang="en-US" sz="2800" dirty="0"/>
          </a:p>
        </p:txBody>
      </p:sp>
      <p:sp>
        <p:nvSpPr>
          <p:cNvPr id="11" name="Text 9"/>
          <p:cNvSpPr/>
          <p:nvPr/>
        </p:nvSpPr>
        <p:spPr>
          <a:xfrm>
            <a:off x="457200" y="1417320"/>
            <a:ext cx="5486400" cy="6858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First Come First Serve</a:t>
            </a:r>
            <a:endParaRPr lang="en-US" sz="3800" dirty="0"/>
          </a:p>
        </p:txBody>
      </p:sp>
      <p:sp>
        <p:nvSpPr>
          <p:cNvPr id="12" name="Text 10"/>
          <p:cNvSpPr/>
          <p:nvPr/>
        </p:nvSpPr>
        <p:spPr>
          <a:xfrm>
            <a:off x="457200" y="2103120"/>
            <a:ext cx="5486400" cy="548640"/>
          </a:xfrm>
          <a:prstGeom prst="rect">
            <a:avLst/>
          </a:prstGeom>
          <a:noFill/>
          <a:ln/>
        </p:spPr>
        <p:txBody>
          <a:bodyPr wrap="square" lIns="0" tIns="0" rIns="0" bIns="0" rtlCol="0" anchor="ctr"/>
          <a:lstStyle/>
          <a:p>
            <a:pPr marL="0" indent="0">
              <a:buNone/>
            </a:pPr>
            <a:r>
              <a:rPr lang="en-US" sz="2600" dirty="0">
                <a:solidFill>
                  <a:srgbClr val="D6E4F7"/>
                </a:solidFill>
                <a:latin typeface="Cambria" pitchFamily="34" charset="0"/>
                <a:ea typeface="Cambria" pitchFamily="34" charset="-122"/>
                <a:cs typeface="Cambria" pitchFamily="34" charset="-120"/>
              </a:rPr>
              <a:t>Algorithm for Elective Registration</a:t>
            </a:r>
            <a:endParaRPr lang="en-US" sz="2600" dirty="0"/>
          </a:p>
        </p:txBody>
      </p:sp>
      <p:sp>
        <p:nvSpPr>
          <p:cNvPr id="13" name="Shape 11"/>
          <p:cNvSpPr/>
          <p:nvPr/>
        </p:nvSpPr>
        <p:spPr>
          <a:xfrm>
            <a:off x="457200" y="2834640"/>
            <a:ext cx="2286000" cy="36576"/>
          </a:xfrm>
          <a:prstGeom prst="rect">
            <a:avLst/>
          </a:prstGeom>
          <a:solidFill>
            <a:srgbClr val="F59E0B"/>
          </a:solidFill>
          <a:ln w="12700">
            <a:solidFill>
              <a:srgbClr val="F59E0B"/>
            </a:solidFill>
            <a:prstDash val="solid"/>
          </a:ln>
        </p:spPr>
      </p:sp>
      <p:sp>
        <p:nvSpPr>
          <p:cNvPr id="14" name="Text 12"/>
          <p:cNvSpPr/>
          <p:nvPr/>
        </p:nvSpPr>
        <p:spPr>
          <a:xfrm>
            <a:off x="457200" y="2944368"/>
            <a:ext cx="5303520" cy="502920"/>
          </a:xfrm>
          <a:prstGeom prst="rect">
            <a:avLst/>
          </a:prstGeom>
          <a:noFill/>
          <a:ln/>
        </p:spPr>
        <p:txBody>
          <a:bodyPr wrap="square" lIns="0" tIns="0" rIns="0" bIns="0" rtlCol="0" anchor="ctr"/>
          <a:lstStyle/>
          <a:p>
            <a:pPr marL="0" indent="0">
              <a:buNone/>
            </a:pPr>
            <a:r>
              <a:rPr lang="en-US" sz="1200" b="1" dirty="0">
                <a:solidFill>
                  <a:srgbClr val="D6E4F7"/>
                </a:solidFill>
                <a:latin typeface="Calibri" pitchFamily="34" charset="0"/>
                <a:ea typeface="Calibri" pitchFamily="34" charset="-122"/>
                <a:cs typeface="Calibri" pitchFamily="34" charset="-120"/>
              </a:rPr>
              <a:t>Soni Priyansee Mukeshkumar</a:t>
            </a:r>
            <a:endParaRPr lang="en-US" sz="1200" dirty="0"/>
          </a:p>
          <a:p>
            <a:pPr marL="0" indent="0">
              <a:buNone/>
            </a:pPr>
            <a:r>
              <a:rPr lang="en-US" sz="1200" dirty="0">
                <a:solidFill>
                  <a:srgbClr val="D6E4F7"/>
                </a:solidFill>
                <a:latin typeface="Calibri" pitchFamily="34" charset="0"/>
                <a:ea typeface="Calibri" pitchFamily="34" charset="-122"/>
                <a:cs typeface="Calibri" pitchFamily="34" charset="-120"/>
              </a:rPr>
              <a:t>202511011  ·  MTech (ICT)</a:t>
            </a:r>
            <a:endParaRPr lang="en-US" sz="1200" dirty="0"/>
          </a:p>
        </p:txBody>
      </p:sp>
      <p:sp>
        <p:nvSpPr>
          <p:cNvPr id="15" name="Text 13"/>
          <p:cNvSpPr/>
          <p:nvPr/>
        </p:nvSpPr>
        <p:spPr>
          <a:xfrm>
            <a:off x="457200" y="3520440"/>
            <a:ext cx="5303520" cy="457200"/>
          </a:xfrm>
          <a:prstGeom prst="rect">
            <a:avLst/>
          </a:prstGeom>
          <a:noFill/>
          <a:ln/>
        </p:spPr>
        <p:txBody>
          <a:bodyPr wrap="square" lIns="0" tIns="0" rIns="0" bIns="0" rtlCol="0" anchor="ctr"/>
          <a:lstStyle/>
          <a:p>
            <a:pPr marL="0" indent="0">
              <a:buNone/>
            </a:pPr>
            <a:r>
              <a:rPr lang="en-US" sz="1100" b="1" dirty="0">
                <a:solidFill>
                  <a:srgbClr val="D6E4F7"/>
                </a:solidFill>
                <a:latin typeface="Calibri" pitchFamily="34" charset="0"/>
                <a:ea typeface="Calibri" pitchFamily="34" charset="-122"/>
                <a:cs typeface="Calibri" pitchFamily="34" charset="-120"/>
              </a:rPr>
              <a:t>Guide: Prof. P M Jat</a:t>
            </a:r>
            <a:endParaRPr lang="en-US" sz="1100" dirty="0"/>
          </a:p>
          <a:p>
            <a:pPr marL="0" indent="0">
              <a:buNone/>
            </a:pPr>
            <a:r>
              <a:rPr lang="en-US" sz="1100" dirty="0">
                <a:solidFill>
                  <a:srgbClr val="D6E4F7"/>
                </a:solidFill>
                <a:latin typeface="Calibri" pitchFamily="34" charset="0"/>
                <a:ea typeface="Calibri" pitchFamily="34" charset="-122"/>
                <a:cs typeface="Calibri" pitchFamily="34" charset="-120"/>
              </a:rPr>
              <a:t>Dhirubhai Ambani University, Gandhinagar</a:t>
            </a:r>
            <a:endParaRPr lang="en-US" sz="1100" dirty="0"/>
          </a:p>
        </p:txBody>
      </p:sp>
      <p:sp>
        <p:nvSpPr>
          <p:cNvPr id="16" name="Text 14"/>
          <p:cNvSpPr/>
          <p:nvPr/>
        </p:nvSpPr>
        <p:spPr>
          <a:xfrm>
            <a:off x="457200" y="4297680"/>
            <a:ext cx="4572000" cy="292608"/>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Term 78  ·  AY 2024–25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Presentation Outline</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A structured walkthrough from problem to results</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Text 5"/>
          <p:cNvSpPr/>
          <p:nvPr/>
        </p:nvSpPr>
        <p:spPr>
          <a:xfrm rot="16200000">
            <a:off x="228600" y="1143000"/>
            <a:ext cx="91440" cy="3200400"/>
          </a:xfrm>
          <a:prstGeom prst="rect">
            <a:avLst/>
          </a:prstGeom>
          <a:noFill/>
          <a:ln/>
        </p:spPr>
        <p:txBody>
          <a:bodyPr wrap="square" lIns="0" tIns="0" rIns="0" bIns="0" rtlCol="0" anchor="ctr"/>
          <a:lstStyle/>
          <a:p>
            <a:pPr marL="0" indent="0" algn="ctr">
              <a:buNone/>
            </a:pPr>
            <a:r>
              <a:rPr lang="en-US" sz="900" b="1" dirty="0">
                <a:solidFill>
                  <a:srgbClr val="2E6DB4"/>
                </a:solidFill>
                <a:latin typeface="Calibri" pitchFamily="34" charset="0"/>
                <a:ea typeface="Calibri" pitchFamily="34" charset="-122"/>
                <a:cs typeface="Calibri" pitchFamily="34" charset="-120"/>
              </a:rPr>
              <a:t>AGENDA</a:t>
            </a:r>
            <a:endParaRPr lang="en-US" sz="900" dirty="0"/>
          </a:p>
        </p:txBody>
      </p:sp>
      <p:sp>
        <p:nvSpPr>
          <p:cNvPr id="8" name="Shape 6"/>
          <p:cNvSpPr/>
          <p:nvPr/>
        </p:nvSpPr>
        <p:spPr>
          <a:xfrm>
            <a:off x="320040" y="1097280"/>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9" name="Shape 7"/>
          <p:cNvSpPr/>
          <p:nvPr/>
        </p:nvSpPr>
        <p:spPr>
          <a:xfrm>
            <a:off x="320040" y="1097280"/>
            <a:ext cx="64008" cy="804672"/>
          </a:xfrm>
          <a:prstGeom prst="rect">
            <a:avLst/>
          </a:prstGeom>
          <a:solidFill>
            <a:srgbClr val="2E6DB4"/>
          </a:solidFill>
          <a:ln w="12700">
            <a:solidFill>
              <a:srgbClr val="2E6DB4"/>
            </a:solidFill>
            <a:prstDash val="solid"/>
          </a:ln>
        </p:spPr>
      </p:sp>
      <p:sp>
        <p:nvSpPr>
          <p:cNvPr id="10" name="Text 8"/>
          <p:cNvSpPr/>
          <p:nvPr/>
        </p:nvSpPr>
        <p:spPr>
          <a:xfrm>
            <a:off x="484632" y="1161288"/>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01</a:t>
            </a:r>
            <a:endParaRPr lang="en-US" sz="1600" dirty="0"/>
          </a:p>
        </p:txBody>
      </p:sp>
      <p:sp>
        <p:nvSpPr>
          <p:cNvPr id="11" name="Text 9"/>
          <p:cNvSpPr/>
          <p:nvPr/>
        </p:nvSpPr>
        <p:spPr>
          <a:xfrm>
            <a:off x="978408" y="1161288"/>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Problem Statement</a:t>
            </a:r>
            <a:endParaRPr lang="en-US" sz="1100" dirty="0"/>
          </a:p>
        </p:txBody>
      </p:sp>
      <p:sp>
        <p:nvSpPr>
          <p:cNvPr id="12" name="Text 10"/>
          <p:cNvSpPr/>
          <p:nvPr/>
        </p:nvSpPr>
        <p:spPr>
          <a:xfrm>
            <a:off x="484632" y="1499616"/>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The lost update anomaly &amp; barging in concurrent registration</a:t>
            </a:r>
            <a:endParaRPr lang="en-US" sz="900" dirty="0"/>
          </a:p>
        </p:txBody>
      </p:sp>
      <p:sp>
        <p:nvSpPr>
          <p:cNvPr id="13" name="Shape 11"/>
          <p:cNvSpPr/>
          <p:nvPr/>
        </p:nvSpPr>
        <p:spPr>
          <a:xfrm>
            <a:off x="320040" y="2029968"/>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4" name="Shape 12"/>
          <p:cNvSpPr/>
          <p:nvPr/>
        </p:nvSpPr>
        <p:spPr>
          <a:xfrm>
            <a:off x="320040" y="2029968"/>
            <a:ext cx="64008" cy="804672"/>
          </a:xfrm>
          <a:prstGeom prst="rect">
            <a:avLst/>
          </a:prstGeom>
          <a:solidFill>
            <a:srgbClr val="2E6DB4"/>
          </a:solidFill>
          <a:ln w="12700">
            <a:solidFill>
              <a:srgbClr val="2E6DB4"/>
            </a:solidFill>
            <a:prstDash val="solid"/>
          </a:ln>
        </p:spPr>
      </p:sp>
      <p:sp>
        <p:nvSpPr>
          <p:cNvPr id="15" name="Text 13"/>
          <p:cNvSpPr/>
          <p:nvPr/>
        </p:nvSpPr>
        <p:spPr>
          <a:xfrm>
            <a:off x="484632" y="2093976"/>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02</a:t>
            </a:r>
            <a:endParaRPr lang="en-US" sz="1600" dirty="0"/>
          </a:p>
        </p:txBody>
      </p:sp>
      <p:sp>
        <p:nvSpPr>
          <p:cNvPr id="16" name="Text 14"/>
          <p:cNvSpPr/>
          <p:nvPr/>
        </p:nvSpPr>
        <p:spPr>
          <a:xfrm>
            <a:off x="978408" y="2093976"/>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Motivation &amp; Objectives</a:t>
            </a:r>
            <a:endParaRPr lang="en-US" sz="1100" dirty="0"/>
          </a:p>
        </p:txBody>
      </p:sp>
      <p:sp>
        <p:nvSpPr>
          <p:cNvPr id="17" name="Text 15"/>
          <p:cNvSpPr/>
          <p:nvPr/>
        </p:nvSpPr>
        <p:spPr>
          <a:xfrm>
            <a:off x="484632" y="2432304"/>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Why pessimistic locking over optimistic locking?</a:t>
            </a:r>
            <a:endParaRPr lang="en-US" sz="900" dirty="0"/>
          </a:p>
        </p:txBody>
      </p:sp>
      <p:sp>
        <p:nvSpPr>
          <p:cNvPr id="18" name="Shape 16"/>
          <p:cNvSpPr/>
          <p:nvPr/>
        </p:nvSpPr>
        <p:spPr>
          <a:xfrm>
            <a:off x="320040" y="2962656"/>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9" name="Shape 17"/>
          <p:cNvSpPr/>
          <p:nvPr/>
        </p:nvSpPr>
        <p:spPr>
          <a:xfrm>
            <a:off x="320040" y="2962656"/>
            <a:ext cx="64008" cy="804672"/>
          </a:xfrm>
          <a:prstGeom prst="rect">
            <a:avLst/>
          </a:prstGeom>
          <a:solidFill>
            <a:srgbClr val="2E6DB4"/>
          </a:solidFill>
          <a:ln w="12700">
            <a:solidFill>
              <a:srgbClr val="2E6DB4"/>
            </a:solidFill>
            <a:prstDash val="solid"/>
          </a:ln>
        </p:spPr>
      </p:sp>
      <p:sp>
        <p:nvSpPr>
          <p:cNvPr id="20" name="Text 18"/>
          <p:cNvSpPr/>
          <p:nvPr/>
        </p:nvSpPr>
        <p:spPr>
          <a:xfrm>
            <a:off x="484632" y="3026664"/>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03</a:t>
            </a:r>
            <a:endParaRPr lang="en-US" sz="1600" dirty="0"/>
          </a:p>
        </p:txBody>
      </p:sp>
      <p:sp>
        <p:nvSpPr>
          <p:cNvPr id="21" name="Text 19"/>
          <p:cNvSpPr/>
          <p:nvPr/>
        </p:nvSpPr>
        <p:spPr>
          <a:xfrm>
            <a:off x="978408" y="3026664"/>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System Architecture</a:t>
            </a:r>
            <a:endParaRPr lang="en-US" sz="1100" dirty="0"/>
          </a:p>
        </p:txBody>
      </p:sp>
      <p:sp>
        <p:nvSpPr>
          <p:cNvPr id="22" name="Text 20"/>
          <p:cNvSpPr/>
          <p:nvPr/>
        </p:nvSpPr>
        <p:spPr>
          <a:xfrm>
            <a:off x="484632" y="3364992"/>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Layered design: Controller → Service → Repository → DB</a:t>
            </a:r>
            <a:endParaRPr lang="en-US" sz="900" dirty="0"/>
          </a:p>
        </p:txBody>
      </p:sp>
      <p:sp>
        <p:nvSpPr>
          <p:cNvPr id="23" name="Shape 21"/>
          <p:cNvSpPr/>
          <p:nvPr/>
        </p:nvSpPr>
        <p:spPr>
          <a:xfrm>
            <a:off x="320040" y="3895344"/>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4" name="Shape 22"/>
          <p:cNvSpPr/>
          <p:nvPr/>
        </p:nvSpPr>
        <p:spPr>
          <a:xfrm>
            <a:off x="320040" y="3895344"/>
            <a:ext cx="64008" cy="804672"/>
          </a:xfrm>
          <a:prstGeom prst="rect">
            <a:avLst/>
          </a:prstGeom>
          <a:solidFill>
            <a:srgbClr val="2E6DB4"/>
          </a:solidFill>
          <a:ln w="12700">
            <a:solidFill>
              <a:srgbClr val="2E6DB4"/>
            </a:solidFill>
            <a:prstDash val="solid"/>
          </a:ln>
        </p:spPr>
      </p:sp>
      <p:sp>
        <p:nvSpPr>
          <p:cNvPr id="25" name="Text 23"/>
          <p:cNvSpPr/>
          <p:nvPr/>
        </p:nvSpPr>
        <p:spPr>
          <a:xfrm>
            <a:off x="484632" y="3959352"/>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04</a:t>
            </a:r>
            <a:endParaRPr lang="en-US" sz="1600" dirty="0"/>
          </a:p>
        </p:txBody>
      </p:sp>
      <p:sp>
        <p:nvSpPr>
          <p:cNvPr id="26" name="Text 24"/>
          <p:cNvSpPr/>
          <p:nvPr/>
        </p:nvSpPr>
        <p:spPr>
          <a:xfrm>
            <a:off x="978408" y="3959352"/>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Database Design</a:t>
            </a:r>
            <a:endParaRPr lang="en-US" sz="1100" dirty="0"/>
          </a:p>
        </p:txBody>
      </p:sp>
      <p:sp>
        <p:nvSpPr>
          <p:cNvPr id="27" name="Text 25"/>
          <p:cNvSpPr/>
          <p:nvPr/>
        </p:nvSpPr>
        <p:spPr>
          <a:xfrm>
            <a:off x="484632" y="4297680"/>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Schema decisions that enable fine-grained locking</a:t>
            </a:r>
            <a:endParaRPr lang="en-US" sz="900" dirty="0"/>
          </a:p>
        </p:txBody>
      </p:sp>
      <p:sp>
        <p:nvSpPr>
          <p:cNvPr id="28" name="Shape 26"/>
          <p:cNvSpPr/>
          <p:nvPr/>
        </p:nvSpPr>
        <p:spPr>
          <a:xfrm>
            <a:off x="4663440" y="1097280"/>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9" name="Shape 27"/>
          <p:cNvSpPr/>
          <p:nvPr/>
        </p:nvSpPr>
        <p:spPr>
          <a:xfrm>
            <a:off x="4663440" y="1097280"/>
            <a:ext cx="64008" cy="804672"/>
          </a:xfrm>
          <a:prstGeom prst="rect">
            <a:avLst/>
          </a:prstGeom>
          <a:solidFill>
            <a:srgbClr val="2E6DB4"/>
          </a:solidFill>
          <a:ln w="12700">
            <a:solidFill>
              <a:srgbClr val="2E6DB4"/>
            </a:solidFill>
            <a:prstDash val="solid"/>
          </a:ln>
        </p:spPr>
      </p:sp>
      <p:sp>
        <p:nvSpPr>
          <p:cNvPr id="30" name="Text 28"/>
          <p:cNvSpPr/>
          <p:nvPr/>
        </p:nvSpPr>
        <p:spPr>
          <a:xfrm>
            <a:off x="4828032" y="1161288"/>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05</a:t>
            </a:r>
            <a:endParaRPr lang="en-US" sz="1600" dirty="0"/>
          </a:p>
        </p:txBody>
      </p:sp>
      <p:sp>
        <p:nvSpPr>
          <p:cNvPr id="31" name="Text 29"/>
          <p:cNvSpPr/>
          <p:nvPr/>
        </p:nvSpPr>
        <p:spPr>
          <a:xfrm>
            <a:off x="5321808" y="1161288"/>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FCFS Allocation Algorithm</a:t>
            </a:r>
            <a:endParaRPr lang="en-US" sz="1100" dirty="0"/>
          </a:p>
        </p:txBody>
      </p:sp>
      <p:sp>
        <p:nvSpPr>
          <p:cNvPr id="32" name="Text 30"/>
          <p:cNvSpPr/>
          <p:nvPr/>
        </p:nvSpPr>
        <p:spPr>
          <a:xfrm>
            <a:off x="4828032" y="1499616"/>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Three-phase: Validation → Lock Acquisition → Atomic Write</a:t>
            </a:r>
            <a:endParaRPr lang="en-US" sz="900" dirty="0"/>
          </a:p>
        </p:txBody>
      </p:sp>
      <p:sp>
        <p:nvSpPr>
          <p:cNvPr id="33" name="Shape 31"/>
          <p:cNvSpPr/>
          <p:nvPr/>
        </p:nvSpPr>
        <p:spPr>
          <a:xfrm>
            <a:off x="4663440" y="2029968"/>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34" name="Shape 32"/>
          <p:cNvSpPr/>
          <p:nvPr/>
        </p:nvSpPr>
        <p:spPr>
          <a:xfrm>
            <a:off x="4663440" y="2029968"/>
            <a:ext cx="64008" cy="804672"/>
          </a:xfrm>
          <a:prstGeom prst="rect">
            <a:avLst/>
          </a:prstGeom>
          <a:solidFill>
            <a:srgbClr val="2E6DB4"/>
          </a:solidFill>
          <a:ln w="12700">
            <a:solidFill>
              <a:srgbClr val="2E6DB4"/>
            </a:solidFill>
            <a:prstDash val="solid"/>
          </a:ln>
        </p:spPr>
      </p:sp>
      <p:sp>
        <p:nvSpPr>
          <p:cNvPr id="35" name="Text 33"/>
          <p:cNvSpPr/>
          <p:nvPr/>
        </p:nvSpPr>
        <p:spPr>
          <a:xfrm>
            <a:off x="4828032" y="2093976"/>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06</a:t>
            </a:r>
            <a:endParaRPr lang="en-US" sz="1600" dirty="0"/>
          </a:p>
        </p:txBody>
      </p:sp>
      <p:sp>
        <p:nvSpPr>
          <p:cNvPr id="36" name="Text 34"/>
          <p:cNvSpPr/>
          <p:nvPr/>
        </p:nvSpPr>
        <p:spPr>
          <a:xfrm>
            <a:off x="5321808" y="2093976"/>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Concurrency Handling</a:t>
            </a:r>
            <a:endParaRPr lang="en-US" sz="1100" dirty="0"/>
          </a:p>
        </p:txBody>
      </p:sp>
      <p:sp>
        <p:nvSpPr>
          <p:cNvPr id="37" name="Text 35"/>
          <p:cNvSpPr/>
          <p:nvPr/>
        </p:nvSpPr>
        <p:spPr>
          <a:xfrm>
            <a:off x="4828032" y="2432304"/>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2PL, deadlock prevention, atomicity via @Transactional</a:t>
            </a:r>
            <a:endParaRPr lang="en-US" sz="900" dirty="0"/>
          </a:p>
        </p:txBody>
      </p:sp>
      <p:sp>
        <p:nvSpPr>
          <p:cNvPr id="38" name="Shape 36"/>
          <p:cNvSpPr/>
          <p:nvPr/>
        </p:nvSpPr>
        <p:spPr>
          <a:xfrm>
            <a:off x="4663440" y="2962656"/>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39" name="Shape 37"/>
          <p:cNvSpPr/>
          <p:nvPr/>
        </p:nvSpPr>
        <p:spPr>
          <a:xfrm>
            <a:off x="4663440" y="2962656"/>
            <a:ext cx="64008" cy="804672"/>
          </a:xfrm>
          <a:prstGeom prst="rect">
            <a:avLst/>
          </a:prstGeom>
          <a:solidFill>
            <a:srgbClr val="2E6DB4"/>
          </a:solidFill>
          <a:ln w="12700">
            <a:solidFill>
              <a:srgbClr val="2E6DB4"/>
            </a:solidFill>
            <a:prstDash val="solid"/>
          </a:ln>
        </p:spPr>
      </p:sp>
      <p:sp>
        <p:nvSpPr>
          <p:cNvPr id="40" name="Text 38"/>
          <p:cNvSpPr/>
          <p:nvPr/>
        </p:nvSpPr>
        <p:spPr>
          <a:xfrm>
            <a:off x="4828032" y="3026664"/>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07</a:t>
            </a:r>
            <a:endParaRPr lang="en-US" sz="1600" dirty="0"/>
          </a:p>
        </p:txBody>
      </p:sp>
      <p:sp>
        <p:nvSpPr>
          <p:cNvPr id="41" name="Text 39"/>
          <p:cNvSpPr/>
          <p:nvPr/>
        </p:nvSpPr>
        <p:spPr>
          <a:xfrm>
            <a:off x="5321808" y="3026664"/>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Implementation Details</a:t>
            </a:r>
            <a:endParaRPr lang="en-US" sz="1100" dirty="0"/>
          </a:p>
        </p:txBody>
      </p:sp>
      <p:sp>
        <p:nvSpPr>
          <p:cNvPr id="42" name="Text 40"/>
          <p:cNvSpPr/>
          <p:nvPr/>
        </p:nvSpPr>
        <p:spPr>
          <a:xfrm>
            <a:off x="4828032" y="3364992"/>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Tech stack, key engineering decisions, critical bug fix</a:t>
            </a:r>
            <a:endParaRPr lang="en-US" sz="900" dirty="0"/>
          </a:p>
        </p:txBody>
      </p:sp>
      <p:sp>
        <p:nvSpPr>
          <p:cNvPr id="43" name="Shape 41"/>
          <p:cNvSpPr/>
          <p:nvPr/>
        </p:nvSpPr>
        <p:spPr>
          <a:xfrm>
            <a:off x="4663440" y="3895344"/>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44" name="Shape 42"/>
          <p:cNvSpPr/>
          <p:nvPr/>
        </p:nvSpPr>
        <p:spPr>
          <a:xfrm>
            <a:off x="4663440" y="3895344"/>
            <a:ext cx="64008" cy="804672"/>
          </a:xfrm>
          <a:prstGeom prst="rect">
            <a:avLst/>
          </a:prstGeom>
          <a:solidFill>
            <a:srgbClr val="2E6DB4"/>
          </a:solidFill>
          <a:ln w="12700">
            <a:solidFill>
              <a:srgbClr val="2E6DB4"/>
            </a:solidFill>
            <a:prstDash val="solid"/>
          </a:ln>
        </p:spPr>
      </p:sp>
      <p:sp>
        <p:nvSpPr>
          <p:cNvPr id="45" name="Text 43"/>
          <p:cNvSpPr/>
          <p:nvPr/>
        </p:nvSpPr>
        <p:spPr>
          <a:xfrm>
            <a:off x="4828032" y="3959352"/>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08</a:t>
            </a:r>
            <a:endParaRPr lang="en-US" sz="1600" dirty="0"/>
          </a:p>
        </p:txBody>
      </p:sp>
      <p:sp>
        <p:nvSpPr>
          <p:cNvPr id="46" name="Text 44"/>
          <p:cNvSpPr/>
          <p:nvPr/>
        </p:nvSpPr>
        <p:spPr>
          <a:xfrm>
            <a:off x="5321808" y="3959352"/>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Results &amp; Testing</a:t>
            </a:r>
            <a:endParaRPr lang="en-US" sz="1100" dirty="0"/>
          </a:p>
        </p:txBody>
      </p:sp>
      <p:sp>
        <p:nvSpPr>
          <p:cNvPr id="47" name="Text 45"/>
          <p:cNvSpPr/>
          <p:nvPr/>
        </p:nvSpPr>
        <p:spPr>
          <a:xfrm>
            <a:off x="4828032" y="4297680"/>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100-thread stress test: exactly 20/20 allocations, zero overbooking</a:t>
            </a:r>
            <a:endParaRPr lang="en-US" sz="900" dirty="0"/>
          </a:p>
        </p:txBody>
      </p:sp>
      <p:sp>
        <p:nvSpPr>
          <p:cNvPr id="48" name="Shape 46"/>
          <p:cNvSpPr/>
          <p:nvPr/>
        </p:nvSpPr>
        <p:spPr>
          <a:xfrm>
            <a:off x="4663440" y="4828032"/>
            <a:ext cx="4114800" cy="80467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49" name="Shape 47"/>
          <p:cNvSpPr/>
          <p:nvPr/>
        </p:nvSpPr>
        <p:spPr>
          <a:xfrm>
            <a:off x="4663440" y="4828032"/>
            <a:ext cx="64008" cy="804672"/>
          </a:xfrm>
          <a:prstGeom prst="rect">
            <a:avLst/>
          </a:prstGeom>
          <a:solidFill>
            <a:srgbClr val="2E6DB4"/>
          </a:solidFill>
          <a:ln w="12700">
            <a:solidFill>
              <a:srgbClr val="2E6DB4"/>
            </a:solidFill>
            <a:prstDash val="solid"/>
          </a:ln>
        </p:spPr>
      </p:sp>
      <p:sp>
        <p:nvSpPr>
          <p:cNvPr id="50" name="Text 48"/>
          <p:cNvSpPr/>
          <p:nvPr/>
        </p:nvSpPr>
        <p:spPr>
          <a:xfrm>
            <a:off x="4828032" y="4892040"/>
            <a:ext cx="457200" cy="274320"/>
          </a:xfrm>
          <a:prstGeom prst="rect">
            <a:avLst/>
          </a:prstGeom>
          <a:noFill/>
          <a:ln/>
        </p:spPr>
        <p:txBody>
          <a:bodyPr wrap="square" lIns="0" tIns="0" rIns="0" bIns="0" rtlCol="0" anchor="ctr"/>
          <a:lstStyle/>
          <a:p>
            <a:pPr marL="0" indent="0">
              <a:buNone/>
            </a:pPr>
            <a:r>
              <a:rPr lang="en-US" sz="1600" b="1" dirty="0">
                <a:solidFill>
                  <a:srgbClr val="2E6DB4"/>
                </a:solidFill>
                <a:latin typeface="Cambria" pitchFamily="34" charset="0"/>
                <a:ea typeface="Cambria" pitchFamily="34" charset="-122"/>
                <a:cs typeface="Cambria" pitchFamily="34" charset="-120"/>
              </a:rPr>
              <a:t>09</a:t>
            </a:r>
            <a:endParaRPr lang="en-US" sz="1600" dirty="0"/>
          </a:p>
        </p:txBody>
      </p:sp>
      <p:sp>
        <p:nvSpPr>
          <p:cNvPr id="51" name="Text 49"/>
          <p:cNvSpPr/>
          <p:nvPr/>
        </p:nvSpPr>
        <p:spPr>
          <a:xfrm>
            <a:off x="5321808" y="4892040"/>
            <a:ext cx="333756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Limitations &amp; Future Work</a:t>
            </a:r>
            <a:endParaRPr lang="en-US" sz="1100" dirty="0"/>
          </a:p>
        </p:txBody>
      </p:sp>
      <p:sp>
        <p:nvSpPr>
          <p:cNvPr id="52" name="Text 50"/>
          <p:cNvSpPr/>
          <p:nvPr/>
        </p:nvSpPr>
        <p:spPr>
          <a:xfrm>
            <a:off x="4828032" y="5230368"/>
            <a:ext cx="3840480" cy="34747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Scope constraints and paths forward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Problem Statement</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What goes wrong without explicit concurrency control?</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Shape 5"/>
          <p:cNvSpPr/>
          <p:nvPr/>
        </p:nvSpPr>
        <p:spPr>
          <a:xfrm>
            <a:off x="274320" y="1143000"/>
            <a:ext cx="4114800" cy="356616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8" name="Shape 6"/>
          <p:cNvSpPr/>
          <p:nvPr/>
        </p:nvSpPr>
        <p:spPr>
          <a:xfrm>
            <a:off x="274320" y="1143000"/>
            <a:ext cx="64008" cy="3566160"/>
          </a:xfrm>
          <a:prstGeom prst="rect">
            <a:avLst/>
          </a:prstGeom>
          <a:solidFill>
            <a:srgbClr val="DC2626"/>
          </a:solidFill>
          <a:ln w="12700">
            <a:solidFill>
              <a:srgbClr val="DC2626"/>
            </a:solidFill>
            <a:prstDash val="solid"/>
          </a:ln>
        </p:spPr>
      </p:sp>
      <p:sp>
        <p:nvSpPr>
          <p:cNvPr id="9" name="Text 7"/>
          <p:cNvSpPr/>
          <p:nvPr/>
        </p:nvSpPr>
        <p:spPr>
          <a:xfrm>
            <a:off x="457200" y="1234440"/>
            <a:ext cx="3749040" cy="32004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THE LOST UPDATE PROBLEM</a:t>
            </a:r>
            <a:endParaRPr lang="en-US" sz="1100" dirty="0"/>
          </a:p>
        </p:txBody>
      </p:sp>
      <p:sp>
        <p:nvSpPr>
          <p:cNvPr id="10" name="Text 8"/>
          <p:cNvSpPr/>
          <p:nvPr/>
        </p:nvSpPr>
        <p:spPr>
          <a:xfrm>
            <a:off x="457200" y="1600200"/>
            <a:ext cx="3657600" cy="5486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 course has exactly 1 seat remaining. Two students S1 and S2 submit requests within milliseconds.</a:t>
            </a:r>
            <a:endParaRPr lang="en-US" sz="1000" dirty="0"/>
          </a:p>
        </p:txBody>
      </p:sp>
      <p:sp>
        <p:nvSpPr>
          <p:cNvPr id="11" name="Shape 9"/>
          <p:cNvSpPr/>
          <p:nvPr/>
        </p:nvSpPr>
        <p:spPr>
          <a:xfrm>
            <a:off x="457200" y="2267712"/>
            <a:ext cx="822960" cy="329184"/>
          </a:xfrm>
          <a:prstGeom prst="rect">
            <a:avLst/>
          </a:prstGeom>
          <a:solidFill>
            <a:srgbClr val="4A90D9"/>
          </a:solidFill>
          <a:ln w="12700">
            <a:solidFill>
              <a:srgbClr val="4A90D9"/>
            </a:solidFill>
            <a:prstDash val="solid"/>
          </a:ln>
        </p:spPr>
      </p:sp>
      <p:sp>
        <p:nvSpPr>
          <p:cNvPr id="12" name="Text 10"/>
          <p:cNvSpPr/>
          <p:nvPr/>
        </p:nvSpPr>
        <p:spPr>
          <a:xfrm>
            <a:off x="457200" y="2267712"/>
            <a:ext cx="822960" cy="32918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R1(seats=1)</a:t>
            </a:r>
            <a:endParaRPr lang="en-US" sz="800" dirty="0"/>
          </a:p>
        </p:txBody>
      </p:sp>
      <p:sp>
        <p:nvSpPr>
          <p:cNvPr id="13" name="Shape 11"/>
          <p:cNvSpPr/>
          <p:nvPr/>
        </p:nvSpPr>
        <p:spPr>
          <a:xfrm>
            <a:off x="1280160" y="2395728"/>
            <a:ext cx="137160" cy="73152"/>
          </a:xfrm>
          <a:prstGeom prst="rect">
            <a:avLst/>
          </a:prstGeom>
          <a:solidFill>
            <a:srgbClr val="6B7280"/>
          </a:solidFill>
          <a:ln w="12700">
            <a:solidFill>
              <a:srgbClr val="6B7280"/>
            </a:solidFill>
            <a:prstDash val="solid"/>
          </a:ln>
        </p:spPr>
      </p:sp>
      <p:sp>
        <p:nvSpPr>
          <p:cNvPr id="14" name="Shape 12"/>
          <p:cNvSpPr/>
          <p:nvPr/>
        </p:nvSpPr>
        <p:spPr>
          <a:xfrm>
            <a:off x="1417320" y="2267712"/>
            <a:ext cx="822960" cy="329184"/>
          </a:xfrm>
          <a:prstGeom prst="rect">
            <a:avLst/>
          </a:prstGeom>
          <a:solidFill>
            <a:srgbClr val="4A90D9"/>
          </a:solidFill>
          <a:ln w="12700">
            <a:solidFill>
              <a:srgbClr val="4A90D9"/>
            </a:solidFill>
            <a:prstDash val="solid"/>
          </a:ln>
        </p:spPr>
      </p:sp>
      <p:sp>
        <p:nvSpPr>
          <p:cNvPr id="15" name="Text 13"/>
          <p:cNvSpPr/>
          <p:nvPr/>
        </p:nvSpPr>
        <p:spPr>
          <a:xfrm>
            <a:off x="1417320" y="2267712"/>
            <a:ext cx="822960" cy="32918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R2(seats=1)</a:t>
            </a:r>
            <a:endParaRPr lang="en-US" sz="800" dirty="0"/>
          </a:p>
        </p:txBody>
      </p:sp>
      <p:sp>
        <p:nvSpPr>
          <p:cNvPr id="16" name="Shape 14"/>
          <p:cNvSpPr/>
          <p:nvPr/>
        </p:nvSpPr>
        <p:spPr>
          <a:xfrm>
            <a:off x="2240280" y="2395728"/>
            <a:ext cx="137160" cy="73152"/>
          </a:xfrm>
          <a:prstGeom prst="rect">
            <a:avLst/>
          </a:prstGeom>
          <a:solidFill>
            <a:srgbClr val="6B7280"/>
          </a:solidFill>
          <a:ln w="12700">
            <a:solidFill>
              <a:srgbClr val="6B7280"/>
            </a:solidFill>
            <a:prstDash val="solid"/>
          </a:ln>
        </p:spPr>
      </p:sp>
      <p:sp>
        <p:nvSpPr>
          <p:cNvPr id="17" name="Shape 15"/>
          <p:cNvSpPr/>
          <p:nvPr/>
        </p:nvSpPr>
        <p:spPr>
          <a:xfrm>
            <a:off x="2377440" y="2267712"/>
            <a:ext cx="822960" cy="329184"/>
          </a:xfrm>
          <a:prstGeom prst="rect">
            <a:avLst/>
          </a:prstGeom>
          <a:solidFill>
            <a:srgbClr val="DC2626"/>
          </a:solidFill>
          <a:ln w="12700">
            <a:solidFill>
              <a:srgbClr val="DC2626"/>
            </a:solidFill>
            <a:prstDash val="solid"/>
          </a:ln>
        </p:spPr>
      </p:sp>
      <p:sp>
        <p:nvSpPr>
          <p:cNvPr id="18" name="Text 16"/>
          <p:cNvSpPr/>
          <p:nvPr/>
        </p:nvSpPr>
        <p:spPr>
          <a:xfrm>
            <a:off x="2377440" y="2267712"/>
            <a:ext cx="822960" cy="32918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W1(seats=0)</a:t>
            </a:r>
            <a:endParaRPr lang="en-US" sz="800" dirty="0"/>
          </a:p>
        </p:txBody>
      </p:sp>
      <p:sp>
        <p:nvSpPr>
          <p:cNvPr id="19" name="Shape 17"/>
          <p:cNvSpPr/>
          <p:nvPr/>
        </p:nvSpPr>
        <p:spPr>
          <a:xfrm>
            <a:off x="3200400" y="2395728"/>
            <a:ext cx="137160" cy="73152"/>
          </a:xfrm>
          <a:prstGeom prst="rect">
            <a:avLst/>
          </a:prstGeom>
          <a:solidFill>
            <a:srgbClr val="6B7280"/>
          </a:solidFill>
          <a:ln w="12700">
            <a:solidFill>
              <a:srgbClr val="6B7280"/>
            </a:solidFill>
            <a:prstDash val="solid"/>
          </a:ln>
        </p:spPr>
      </p:sp>
      <p:sp>
        <p:nvSpPr>
          <p:cNvPr id="20" name="Shape 18"/>
          <p:cNvSpPr/>
          <p:nvPr/>
        </p:nvSpPr>
        <p:spPr>
          <a:xfrm>
            <a:off x="3337560" y="2267712"/>
            <a:ext cx="822960" cy="329184"/>
          </a:xfrm>
          <a:prstGeom prst="rect">
            <a:avLst/>
          </a:prstGeom>
          <a:solidFill>
            <a:srgbClr val="DC2626"/>
          </a:solidFill>
          <a:ln w="12700">
            <a:solidFill>
              <a:srgbClr val="DC2626"/>
            </a:solidFill>
            <a:prstDash val="solid"/>
          </a:ln>
        </p:spPr>
      </p:sp>
      <p:sp>
        <p:nvSpPr>
          <p:cNvPr id="21" name="Text 19"/>
          <p:cNvSpPr/>
          <p:nvPr/>
        </p:nvSpPr>
        <p:spPr>
          <a:xfrm>
            <a:off x="3337560" y="2267712"/>
            <a:ext cx="822960" cy="32918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W2(seats=0)</a:t>
            </a:r>
            <a:endParaRPr lang="en-US" sz="800" dirty="0"/>
          </a:p>
        </p:txBody>
      </p:sp>
      <p:sp>
        <p:nvSpPr>
          <p:cNvPr id="22" name="Text 20"/>
          <p:cNvSpPr/>
          <p:nvPr/>
        </p:nvSpPr>
        <p:spPr>
          <a:xfrm>
            <a:off x="457200" y="2743200"/>
            <a:ext cx="3657600" cy="4572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Result: Both transactions see seats=1 and both enroll → OVERBOOKING</a:t>
            </a:r>
            <a:endParaRPr lang="en-US" sz="1000" dirty="0"/>
          </a:p>
        </p:txBody>
      </p:sp>
      <p:sp>
        <p:nvSpPr>
          <p:cNvPr id="23" name="Shape 21"/>
          <p:cNvSpPr/>
          <p:nvPr/>
        </p:nvSpPr>
        <p:spPr>
          <a:xfrm>
            <a:off x="457200" y="3273552"/>
            <a:ext cx="3474720" cy="36576"/>
          </a:xfrm>
          <a:prstGeom prst="rect">
            <a:avLst/>
          </a:prstGeom>
          <a:solidFill>
            <a:srgbClr val="E5EBF5"/>
          </a:solidFill>
          <a:ln w="12700">
            <a:solidFill>
              <a:srgbClr val="E5EBF5"/>
            </a:solidFill>
            <a:prstDash val="solid"/>
          </a:ln>
        </p:spPr>
      </p:sp>
      <p:sp>
        <p:nvSpPr>
          <p:cNvPr id="24" name="Text 22"/>
          <p:cNvSpPr/>
          <p:nvPr/>
        </p:nvSpPr>
        <p:spPr>
          <a:xfrm>
            <a:off x="457200" y="3383280"/>
            <a:ext cx="374904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Hazardous interleaving: </a:t>
            </a:r>
            <a:r>
              <a:rPr lang="en-US" sz="1000" i="1" dirty="0">
                <a:solidFill>
                  <a:srgbClr val="1E293B"/>
                </a:solidFill>
                <a:latin typeface="Calibri" pitchFamily="34" charset="0"/>
                <a:ea typeface="Calibri" pitchFamily="34" charset="-122"/>
                <a:cs typeface="Calibri" pitchFamily="34" charset="-120"/>
              </a:rPr>
              <a:t>R₁(s) → R₂(s) → W₁(s) → W₂(s)</a:t>
            </a:r>
            <a:endParaRPr lang="en-US" sz="1000" dirty="0"/>
          </a:p>
        </p:txBody>
      </p:sp>
      <p:sp>
        <p:nvSpPr>
          <p:cNvPr id="25" name="Text 23"/>
          <p:cNvSpPr/>
          <p:nvPr/>
        </p:nvSpPr>
        <p:spPr>
          <a:xfrm>
            <a:off x="457200" y="3749040"/>
            <a:ext cx="3657600" cy="7315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Any interleaving where both reads precede both writes produces an erroneous state.</a:t>
            </a:r>
            <a:endParaRPr lang="en-US" sz="950" dirty="0"/>
          </a:p>
        </p:txBody>
      </p:sp>
      <p:sp>
        <p:nvSpPr>
          <p:cNvPr id="26" name="Shape 24"/>
          <p:cNvSpPr/>
          <p:nvPr/>
        </p:nvSpPr>
        <p:spPr>
          <a:xfrm>
            <a:off x="4663440" y="1143000"/>
            <a:ext cx="4160520" cy="356616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7" name="Shape 25"/>
          <p:cNvSpPr/>
          <p:nvPr/>
        </p:nvSpPr>
        <p:spPr>
          <a:xfrm>
            <a:off x="4663440" y="1143000"/>
            <a:ext cx="64008" cy="3566160"/>
          </a:xfrm>
          <a:prstGeom prst="rect">
            <a:avLst/>
          </a:prstGeom>
          <a:solidFill>
            <a:srgbClr val="F59E0B"/>
          </a:solidFill>
          <a:ln w="12700">
            <a:solidFill>
              <a:srgbClr val="F59E0B"/>
            </a:solidFill>
            <a:prstDash val="solid"/>
          </a:ln>
        </p:spPr>
      </p:sp>
      <p:sp>
        <p:nvSpPr>
          <p:cNvPr id="28" name="Text 26"/>
          <p:cNvSpPr/>
          <p:nvPr/>
        </p:nvSpPr>
        <p:spPr>
          <a:xfrm>
            <a:off x="4846320" y="1234440"/>
            <a:ext cx="3749040" cy="32004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THE BARGING PROBLEM</a:t>
            </a:r>
            <a:endParaRPr lang="en-US" sz="1100" dirty="0"/>
          </a:p>
        </p:txBody>
      </p:sp>
      <p:sp>
        <p:nvSpPr>
          <p:cNvPr id="29" name="Text 27"/>
          <p:cNvSpPr/>
          <p:nvPr/>
        </p:nvSpPr>
        <p:spPr>
          <a:xfrm>
            <a:off x="4846320" y="1627632"/>
            <a:ext cx="3749040" cy="5943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Optimistic locking forces retries on conflict.</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A retrying thread competes with no memory of original submission time.</a:t>
            </a:r>
            <a:endParaRPr lang="en-US" sz="1000" dirty="0"/>
          </a:p>
        </p:txBody>
      </p:sp>
      <p:sp>
        <p:nvSpPr>
          <p:cNvPr id="30" name="Shape 28"/>
          <p:cNvSpPr/>
          <p:nvPr/>
        </p:nvSpPr>
        <p:spPr>
          <a:xfrm>
            <a:off x="4846320" y="2331720"/>
            <a:ext cx="804672" cy="548640"/>
          </a:xfrm>
          <a:prstGeom prst="rect">
            <a:avLst/>
          </a:prstGeom>
          <a:solidFill>
            <a:srgbClr val="16A34A"/>
          </a:solidFill>
          <a:ln w="12700">
            <a:solidFill>
              <a:srgbClr val="16A34A"/>
            </a:solidFill>
            <a:prstDash val="solid"/>
          </a:ln>
        </p:spPr>
      </p:sp>
      <p:sp>
        <p:nvSpPr>
          <p:cNvPr id="31" name="Text 29"/>
          <p:cNvSpPr/>
          <p:nvPr/>
        </p:nvSpPr>
        <p:spPr>
          <a:xfrm>
            <a:off x="4846320" y="2331720"/>
            <a:ext cx="804672" cy="54864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S1 clicks at</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09:00:001</a:t>
            </a:r>
            <a:endParaRPr lang="en-US" sz="750" dirty="0"/>
          </a:p>
        </p:txBody>
      </p:sp>
      <p:sp>
        <p:nvSpPr>
          <p:cNvPr id="32" name="Shape 30"/>
          <p:cNvSpPr/>
          <p:nvPr/>
        </p:nvSpPr>
        <p:spPr>
          <a:xfrm>
            <a:off x="5650992" y="2560320"/>
            <a:ext cx="173736" cy="73152"/>
          </a:xfrm>
          <a:prstGeom prst="rect">
            <a:avLst/>
          </a:prstGeom>
          <a:solidFill>
            <a:srgbClr val="6B7280"/>
          </a:solidFill>
          <a:ln w="12700">
            <a:solidFill>
              <a:srgbClr val="6B7280"/>
            </a:solidFill>
            <a:prstDash val="solid"/>
          </a:ln>
        </p:spPr>
      </p:sp>
      <p:sp>
        <p:nvSpPr>
          <p:cNvPr id="33" name="Shape 31"/>
          <p:cNvSpPr/>
          <p:nvPr/>
        </p:nvSpPr>
        <p:spPr>
          <a:xfrm>
            <a:off x="5824728" y="2331720"/>
            <a:ext cx="804672" cy="548640"/>
          </a:xfrm>
          <a:prstGeom prst="rect">
            <a:avLst/>
          </a:prstGeom>
          <a:solidFill>
            <a:srgbClr val="DC2626"/>
          </a:solidFill>
          <a:ln w="12700">
            <a:solidFill>
              <a:srgbClr val="DC2626"/>
            </a:solidFill>
            <a:prstDash val="solid"/>
          </a:ln>
        </p:spPr>
      </p:sp>
      <p:sp>
        <p:nvSpPr>
          <p:cNvPr id="34" name="Text 32"/>
          <p:cNvSpPr/>
          <p:nvPr/>
        </p:nvSpPr>
        <p:spPr>
          <a:xfrm>
            <a:off x="5824728" y="2331720"/>
            <a:ext cx="804672" cy="54864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Conflict!</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Retry queued</a:t>
            </a:r>
            <a:endParaRPr lang="en-US" sz="750" dirty="0"/>
          </a:p>
        </p:txBody>
      </p:sp>
      <p:sp>
        <p:nvSpPr>
          <p:cNvPr id="35" name="Shape 33"/>
          <p:cNvSpPr/>
          <p:nvPr/>
        </p:nvSpPr>
        <p:spPr>
          <a:xfrm>
            <a:off x="6629400" y="2560320"/>
            <a:ext cx="173736" cy="73152"/>
          </a:xfrm>
          <a:prstGeom prst="rect">
            <a:avLst/>
          </a:prstGeom>
          <a:solidFill>
            <a:srgbClr val="6B7280"/>
          </a:solidFill>
          <a:ln w="12700">
            <a:solidFill>
              <a:srgbClr val="6B7280"/>
            </a:solidFill>
            <a:prstDash val="solid"/>
          </a:ln>
        </p:spPr>
      </p:sp>
      <p:sp>
        <p:nvSpPr>
          <p:cNvPr id="36" name="Shape 34"/>
          <p:cNvSpPr/>
          <p:nvPr/>
        </p:nvSpPr>
        <p:spPr>
          <a:xfrm>
            <a:off x="6803136" y="2331720"/>
            <a:ext cx="804672" cy="548640"/>
          </a:xfrm>
          <a:prstGeom prst="rect">
            <a:avLst/>
          </a:prstGeom>
          <a:solidFill>
            <a:srgbClr val="4A90D9"/>
          </a:solidFill>
          <a:ln w="12700">
            <a:solidFill>
              <a:srgbClr val="4A90D9"/>
            </a:solidFill>
            <a:prstDash val="solid"/>
          </a:ln>
        </p:spPr>
      </p:sp>
      <p:sp>
        <p:nvSpPr>
          <p:cNvPr id="37" name="Text 35"/>
          <p:cNvSpPr/>
          <p:nvPr/>
        </p:nvSpPr>
        <p:spPr>
          <a:xfrm>
            <a:off x="6803136" y="2331720"/>
            <a:ext cx="804672" cy="54864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S2 clicks at</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09:00:003</a:t>
            </a:r>
            <a:endParaRPr lang="en-US" sz="750" dirty="0"/>
          </a:p>
        </p:txBody>
      </p:sp>
      <p:sp>
        <p:nvSpPr>
          <p:cNvPr id="38" name="Shape 36"/>
          <p:cNvSpPr/>
          <p:nvPr/>
        </p:nvSpPr>
        <p:spPr>
          <a:xfrm>
            <a:off x="7607808" y="2560320"/>
            <a:ext cx="173736" cy="73152"/>
          </a:xfrm>
          <a:prstGeom prst="rect">
            <a:avLst/>
          </a:prstGeom>
          <a:solidFill>
            <a:srgbClr val="6B7280"/>
          </a:solidFill>
          <a:ln w="12700">
            <a:solidFill>
              <a:srgbClr val="6B7280"/>
            </a:solidFill>
            <a:prstDash val="solid"/>
          </a:ln>
        </p:spPr>
      </p:sp>
      <p:sp>
        <p:nvSpPr>
          <p:cNvPr id="39" name="Shape 37"/>
          <p:cNvSpPr/>
          <p:nvPr/>
        </p:nvSpPr>
        <p:spPr>
          <a:xfrm>
            <a:off x="7781544" y="2331720"/>
            <a:ext cx="804672" cy="548640"/>
          </a:xfrm>
          <a:prstGeom prst="rect">
            <a:avLst/>
          </a:prstGeom>
          <a:solidFill>
            <a:srgbClr val="DC2626"/>
          </a:solidFill>
          <a:ln w="12700">
            <a:solidFill>
              <a:srgbClr val="DC2626"/>
            </a:solidFill>
            <a:prstDash val="solid"/>
          </a:ln>
        </p:spPr>
      </p:sp>
      <p:sp>
        <p:nvSpPr>
          <p:cNvPr id="40" name="Text 38"/>
          <p:cNvSpPr/>
          <p:nvPr/>
        </p:nvSpPr>
        <p:spPr>
          <a:xfrm>
            <a:off x="7781544" y="2331720"/>
            <a:ext cx="804672" cy="54864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S2 gets seat</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(WRONG!)</a:t>
            </a:r>
            <a:endParaRPr lang="en-US" sz="750" dirty="0"/>
          </a:p>
        </p:txBody>
      </p:sp>
      <p:sp>
        <p:nvSpPr>
          <p:cNvPr id="41" name="Text 39"/>
          <p:cNvSpPr/>
          <p:nvPr/>
        </p:nvSpPr>
        <p:spPr>
          <a:xfrm>
            <a:off x="4846320" y="3017520"/>
            <a:ext cx="374904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Result: S1 (earlier request) gets overtaken by S2 → FAIRNESS VIOLATED</a:t>
            </a:r>
            <a:endParaRPr lang="en-US" sz="1000" dirty="0"/>
          </a:p>
        </p:txBody>
      </p:sp>
      <p:sp>
        <p:nvSpPr>
          <p:cNvPr id="42" name="Shape 40"/>
          <p:cNvSpPr/>
          <p:nvPr/>
        </p:nvSpPr>
        <p:spPr>
          <a:xfrm>
            <a:off x="4846320" y="3529584"/>
            <a:ext cx="3474720" cy="36576"/>
          </a:xfrm>
          <a:prstGeom prst="rect">
            <a:avLst/>
          </a:prstGeom>
          <a:solidFill>
            <a:srgbClr val="E5EBF5"/>
          </a:solidFill>
          <a:ln w="12700">
            <a:solidFill>
              <a:srgbClr val="E5EBF5"/>
            </a:solidFill>
            <a:prstDash val="solid"/>
          </a:ln>
        </p:spPr>
      </p:sp>
      <p:sp>
        <p:nvSpPr>
          <p:cNvPr id="43" name="Text 41"/>
          <p:cNvSpPr/>
          <p:nvPr/>
        </p:nvSpPr>
        <p:spPr>
          <a:xfrm>
            <a:off x="4846320" y="3621024"/>
            <a:ext cx="3749040" cy="6858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 academic systems, seat priority directly affects graduation timelines — this is a policy violation, not a minor UI issue.</a:t>
            </a:r>
            <a:endParaRPr lang="en-US" sz="1000" dirty="0"/>
          </a:p>
        </p:txBody>
      </p:sp>
      <p:sp>
        <p:nvSpPr>
          <p:cNvPr id="44" name="Shape 42"/>
          <p:cNvSpPr/>
          <p:nvPr/>
        </p:nvSpPr>
        <p:spPr>
          <a:xfrm>
            <a:off x="274320" y="4754880"/>
            <a:ext cx="8595360" cy="274320"/>
          </a:xfrm>
          <a:prstGeom prst="rect">
            <a:avLst/>
          </a:prstGeom>
          <a:solidFill>
            <a:srgbClr val="1B2A4A"/>
          </a:solidFill>
          <a:ln w="12700">
            <a:solidFill>
              <a:srgbClr val="1B2A4A"/>
            </a:solidFill>
            <a:prstDash val="solid"/>
          </a:ln>
        </p:spPr>
      </p:sp>
      <p:sp>
        <p:nvSpPr>
          <p:cNvPr id="45" name="Text 43"/>
          <p:cNvSpPr/>
          <p:nvPr/>
        </p:nvSpPr>
        <p:spPr>
          <a:xfrm>
            <a:off x="365760" y="4764024"/>
            <a:ext cx="841248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Both anomalies stem from the gap between reading and acting on shared state — and both are eliminated by the FCFS locking algorithm.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Motivation &amp; Objectives</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Why this problem matters — and why pessimistic locking is the right tool</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Text 5"/>
          <p:cNvSpPr/>
          <p:nvPr/>
        </p:nvSpPr>
        <p:spPr>
          <a:xfrm>
            <a:off x="320040" y="1115568"/>
            <a:ext cx="4206240" cy="274320"/>
          </a:xfrm>
          <a:prstGeom prst="rect">
            <a:avLst/>
          </a:prstGeom>
          <a:noFill/>
          <a:ln/>
        </p:spPr>
        <p:txBody>
          <a:bodyPr wrap="square" lIns="0" tIns="0" rIns="0" bIns="0" rtlCol="0" anchor="ctr"/>
          <a:lstStyle/>
          <a:p>
            <a:pPr marL="0" indent="0">
              <a:buNone/>
            </a:pPr>
            <a:r>
              <a:rPr lang="en-US" sz="1100" b="1" dirty="0">
                <a:solidFill>
                  <a:srgbClr val="1E4D8C"/>
                </a:solidFill>
                <a:latin typeface="Calibri" pitchFamily="34" charset="0"/>
                <a:ea typeface="Calibri" pitchFamily="34" charset="-122"/>
                <a:cs typeface="Calibri" pitchFamily="34" charset="-120"/>
              </a:rPr>
              <a:t>WHY THIS MATTERS</a:t>
            </a:r>
            <a:endParaRPr lang="en-US" sz="1100" dirty="0"/>
          </a:p>
        </p:txBody>
      </p:sp>
      <p:sp>
        <p:nvSpPr>
          <p:cNvPr id="8" name="Shape 6"/>
          <p:cNvSpPr/>
          <p:nvPr/>
        </p:nvSpPr>
        <p:spPr>
          <a:xfrm>
            <a:off x="320040" y="1463040"/>
            <a:ext cx="4114800" cy="96012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9" name="Shape 7"/>
          <p:cNvSpPr/>
          <p:nvPr/>
        </p:nvSpPr>
        <p:spPr>
          <a:xfrm>
            <a:off x="320040" y="1463040"/>
            <a:ext cx="64008" cy="960120"/>
          </a:xfrm>
          <a:prstGeom prst="rect">
            <a:avLst/>
          </a:prstGeom>
          <a:solidFill>
            <a:srgbClr val="1E4D8C"/>
          </a:solidFill>
          <a:ln w="12700">
            <a:solidFill>
              <a:srgbClr val="1E4D8C"/>
            </a:solidFill>
            <a:prstDash val="solid"/>
          </a:ln>
        </p:spPr>
      </p:sp>
      <p:sp>
        <p:nvSpPr>
          <p:cNvPr id="10" name="Text 8"/>
          <p:cNvSpPr/>
          <p:nvPr/>
        </p:nvSpPr>
        <p:spPr>
          <a:xfrm>
            <a:off x="548640" y="1536192"/>
            <a:ext cx="365760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Engineered Spike</a:t>
            </a:r>
            <a:endParaRPr lang="en-US" sz="1100" dirty="0"/>
          </a:p>
        </p:txBody>
      </p:sp>
      <p:sp>
        <p:nvSpPr>
          <p:cNvPr id="11" name="Text 9"/>
          <p:cNvSpPr/>
          <p:nvPr/>
        </p:nvSpPr>
        <p:spPr>
          <a:xfrm>
            <a:off x="548640" y="1828800"/>
            <a:ext cx="3657600" cy="53035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Registration windows concentrate hundreds of writes into seconds — unlike routine academic DB operations spread across the day.</a:t>
            </a:r>
            <a:endParaRPr lang="en-US" sz="950" dirty="0"/>
          </a:p>
        </p:txBody>
      </p:sp>
      <p:sp>
        <p:nvSpPr>
          <p:cNvPr id="12" name="Shape 10"/>
          <p:cNvSpPr/>
          <p:nvPr/>
        </p:nvSpPr>
        <p:spPr>
          <a:xfrm>
            <a:off x="320040" y="2560320"/>
            <a:ext cx="4114800" cy="96012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3" name="Shape 11"/>
          <p:cNvSpPr/>
          <p:nvPr/>
        </p:nvSpPr>
        <p:spPr>
          <a:xfrm>
            <a:off x="320040" y="2560320"/>
            <a:ext cx="64008" cy="960120"/>
          </a:xfrm>
          <a:prstGeom prst="rect">
            <a:avLst/>
          </a:prstGeom>
          <a:solidFill>
            <a:srgbClr val="1E4D8C"/>
          </a:solidFill>
          <a:ln w="12700">
            <a:solidFill>
              <a:srgbClr val="1E4D8C"/>
            </a:solidFill>
            <a:prstDash val="solid"/>
          </a:ln>
        </p:spPr>
      </p:sp>
      <p:sp>
        <p:nvSpPr>
          <p:cNvPr id="14" name="Text 12"/>
          <p:cNvSpPr/>
          <p:nvPr/>
        </p:nvSpPr>
        <p:spPr>
          <a:xfrm>
            <a:off x="548640" y="2633472"/>
            <a:ext cx="365760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High Stakes</a:t>
            </a:r>
            <a:endParaRPr lang="en-US" sz="1100" dirty="0"/>
          </a:p>
        </p:txBody>
      </p:sp>
      <p:sp>
        <p:nvSpPr>
          <p:cNvPr id="15" name="Text 13"/>
          <p:cNvSpPr/>
          <p:nvPr/>
        </p:nvSpPr>
        <p:spPr>
          <a:xfrm>
            <a:off x="548640" y="2926080"/>
            <a:ext cx="3657600" cy="53035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For students, seat priority maps directly to course availability and graduation planning — wrong outcomes are consequential.</a:t>
            </a:r>
            <a:endParaRPr lang="en-US" sz="950" dirty="0"/>
          </a:p>
        </p:txBody>
      </p:sp>
      <p:sp>
        <p:nvSpPr>
          <p:cNvPr id="16" name="Shape 14"/>
          <p:cNvSpPr/>
          <p:nvPr/>
        </p:nvSpPr>
        <p:spPr>
          <a:xfrm>
            <a:off x="320040" y="3657600"/>
            <a:ext cx="4114800" cy="96012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7" name="Shape 15"/>
          <p:cNvSpPr/>
          <p:nvPr/>
        </p:nvSpPr>
        <p:spPr>
          <a:xfrm>
            <a:off x="320040" y="3657600"/>
            <a:ext cx="64008" cy="960120"/>
          </a:xfrm>
          <a:prstGeom prst="rect">
            <a:avLst/>
          </a:prstGeom>
          <a:solidFill>
            <a:srgbClr val="1E4D8C"/>
          </a:solidFill>
          <a:ln w="12700">
            <a:solidFill>
              <a:srgbClr val="1E4D8C"/>
            </a:solidFill>
            <a:prstDash val="solid"/>
          </a:ln>
        </p:spPr>
      </p:sp>
      <p:sp>
        <p:nvSpPr>
          <p:cNvPr id="18" name="Text 16"/>
          <p:cNvSpPr/>
          <p:nvPr/>
        </p:nvSpPr>
        <p:spPr>
          <a:xfrm>
            <a:off x="548640" y="3730752"/>
            <a:ext cx="3657600" cy="2743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Existing Gaps</a:t>
            </a:r>
            <a:endParaRPr lang="en-US" sz="1100" dirty="0"/>
          </a:p>
        </p:txBody>
      </p:sp>
      <p:sp>
        <p:nvSpPr>
          <p:cNvPr id="19" name="Text 17"/>
          <p:cNvSpPr/>
          <p:nvPr/>
        </p:nvSpPr>
        <p:spPr>
          <a:xfrm>
            <a:off x="548640" y="4023360"/>
            <a:ext cx="3657600" cy="530352"/>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Many academic portals rely on application-layer checks without DB-level guarantees, leaving overbooking as a real production risk.</a:t>
            </a:r>
            <a:endParaRPr lang="en-US" sz="950" dirty="0"/>
          </a:p>
        </p:txBody>
      </p:sp>
      <p:sp>
        <p:nvSpPr>
          <p:cNvPr id="20" name="Text 18"/>
          <p:cNvSpPr/>
          <p:nvPr/>
        </p:nvSpPr>
        <p:spPr>
          <a:xfrm>
            <a:off x="4754880" y="1115568"/>
            <a:ext cx="4114800" cy="274320"/>
          </a:xfrm>
          <a:prstGeom prst="rect">
            <a:avLst/>
          </a:prstGeom>
          <a:noFill/>
          <a:ln/>
        </p:spPr>
        <p:txBody>
          <a:bodyPr wrap="square" lIns="0" tIns="0" rIns="0" bIns="0" rtlCol="0" anchor="ctr"/>
          <a:lstStyle/>
          <a:p>
            <a:pPr marL="0" indent="0">
              <a:buNone/>
            </a:pPr>
            <a:r>
              <a:rPr lang="en-US" sz="1100" b="1" dirty="0">
                <a:solidFill>
                  <a:srgbClr val="1E4D8C"/>
                </a:solidFill>
                <a:latin typeface="Calibri" pitchFamily="34" charset="0"/>
                <a:ea typeface="Calibri" pitchFamily="34" charset="-122"/>
                <a:cs typeface="Calibri" pitchFamily="34" charset="-120"/>
              </a:rPr>
              <a:t>DESIGN OBJECTIVES</a:t>
            </a:r>
            <a:endParaRPr lang="en-US" sz="1100" dirty="0"/>
          </a:p>
        </p:txBody>
      </p:sp>
      <p:sp>
        <p:nvSpPr>
          <p:cNvPr id="21" name="Shape 19"/>
          <p:cNvSpPr/>
          <p:nvPr/>
        </p:nvSpPr>
        <p:spPr>
          <a:xfrm>
            <a:off x="4709160" y="1463040"/>
            <a:ext cx="4206240" cy="621792"/>
          </a:xfrm>
          <a:prstGeom prst="rect">
            <a:avLst/>
          </a:prstGeom>
          <a:solidFill>
            <a:srgbClr val="FFFFFF"/>
          </a:solidFill>
          <a:ln w="12700">
            <a:solidFill>
              <a:srgbClr val="E5EBF5"/>
            </a:solidFill>
            <a:prstDash val="solid"/>
          </a:ln>
        </p:spPr>
      </p:sp>
      <p:sp>
        <p:nvSpPr>
          <p:cNvPr id="22" name="Shape 20"/>
          <p:cNvSpPr/>
          <p:nvPr/>
        </p:nvSpPr>
        <p:spPr>
          <a:xfrm>
            <a:off x="4800600" y="1508760"/>
            <a:ext cx="256032" cy="256032"/>
          </a:xfrm>
          <a:prstGeom prst="ellipse">
            <a:avLst/>
          </a:prstGeom>
          <a:solidFill>
            <a:srgbClr val="16A34A"/>
          </a:solidFill>
          <a:ln w="12700">
            <a:solidFill>
              <a:srgbClr val="16A34A"/>
            </a:solidFill>
            <a:prstDash val="solid"/>
          </a:ln>
        </p:spPr>
      </p:sp>
      <p:sp>
        <p:nvSpPr>
          <p:cNvPr id="23" name="Text 21"/>
          <p:cNvSpPr/>
          <p:nvPr/>
        </p:nvSpPr>
        <p:spPr>
          <a:xfrm>
            <a:off x="5138928" y="1508760"/>
            <a:ext cx="356616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Zero Overbooking</a:t>
            </a:r>
            <a:endParaRPr lang="en-US" sz="1000" dirty="0"/>
          </a:p>
        </p:txBody>
      </p:sp>
      <p:sp>
        <p:nvSpPr>
          <p:cNvPr id="24" name="Text 22"/>
          <p:cNvSpPr/>
          <p:nvPr/>
        </p:nvSpPr>
        <p:spPr>
          <a:xfrm>
            <a:off x="4800600" y="1810512"/>
            <a:ext cx="4023360" cy="292608"/>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No course should ever have more enrolled students than its declared seat count — regardless of concurrency level.</a:t>
            </a:r>
            <a:endParaRPr lang="en-US" sz="900" dirty="0"/>
          </a:p>
        </p:txBody>
      </p:sp>
      <p:sp>
        <p:nvSpPr>
          <p:cNvPr id="25" name="Shape 23"/>
          <p:cNvSpPr/>
          <p:nvPr/>
        </p:nvSpPr>
        <p:spPr>
          <a:xfrm>
            <a:off x="4709160" y="2176272"/>
            <a:ext cx="4206240" cy="621792"/>
          </a:xfrm>
          <a:prstGeom prst="rect">
            <a:avLst/>
          </a:prstGeom>
          <a:solidFill>
            <a:srgbClr val="FFFFFF"/>
          </a:solidFill>
          <a:ln w="12700">
            <a:solidFill>
              <a:srgbClr val="E5EBF5"/>
            </a:solidFill>
            <a:prstDash val="solid"/>
          </a:ln>
        </p:spPr>
      </p:sp>
      <p:sp>
        <p:nvSpPr>
          <p:cNvPr id="26" name="Shape 24"/>
          <p:cNvSpPr/>
          <p:nvPr/>
        </p:nvSpPr>
        <p:spPr>
          <a:xfrm>
            <a:off x="4800600" y="2221992"/>
            <a:ext cx="256032" cy="256032"/>
          </a:xfrm>
          <a:prstGeom prst="ellipse">
            <a:avLst/>
          </a:prstGeom>
          <a:solidFill>
            <a:srgbClr val="4A90D9"/>
          </a:solidFill>
          <a:ln w="12700">
            <a:solidFill>
              <a:srgbClr val="4A90D9"/>
            </a:solidFill>
            <a:prstDash val="solid"/>
          </a:ln>
        </p:spPr>
      </p:sp>
      <p:sp>
        <p:nvSpPr>
          <p:cNvPr id="27" name="Text 25"/>
          <p:cNvSpPr/>
          <p:nvPr/>
        </p:nvSpPr>
        <p:spPr>
          <a:xfrm>
            <a:off x="5138928" y="2221992"/>
            <a:ext cx="356616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FCFS Fairness</a:t>
            </a:r>
            <a:endParaRPr lang="en-US" sz="1000" dirty="0"/>
          </a:p>
        </p:txBody>
      </p:sp>
      <p:sp>
        <p:nvSpPr>
          <p:cNvPr id="28" name="Text 26"/>
          <p:cNvSpPr/>
          <p:nvPr/>
        </p:nvSpPr>
        <p:spPr>
          <a:xfrm>
            <a:off x="4800600" y="2523744"/>
            <a:ext cx="4023360" cy="292608"/>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Requests that arrive earlier must be served before later ones — no thread barging allowed.</a:t>
            </a:r>
            <a:endParaRPr lang="en-US" sz="900" dirty="0"/>
          </a:p>
        </p:txBody>
      </p:sp>
      <p:sp>
        <p:nvSpPr>
          <p:cNvPr id="29" name="Shape 27"/>
          <p:cNvSpPr/>
          <p:nvPr/>
        </p:nvSpPr>
        <p:spPr>
          <a:xfrm>
            <a:off x="4709160" y="2889504"/>
            <a:ext cx="4206240" cy="621792"/>
          </a:xfrm>
          <a:prstGeom prst="rect">
            <a:avLst/>
          </a:prstGeom>
          <a:solidFill>
            <a:srgbClr val="FFFFFF"/>
          </a:solidFill>
          <a:ln w="12700">
            <a:solidFill>
              <a:srgbClr val="E5EBF5"/>
            </a:solidFill>
            <a:prstDash val="solid"/>
          </a:ln>
        </p:spPr>
      </p:sp>
      <p:sp>
        <p:nvSpPr>
          <p:cNvPr id="30" name="Shape 28"/>
          <p:cNvSpPr/>
          <p:nvPr/>
        </p:nvSpPr>
        <p:spPr>
          <a:xfrm>
            <a:off x="4800600" y="2935224"/>
            <a:ext cx="256032" cy="256032"/>
          </a:xfrm>
          <a:prstGeom prst="ellipse">
            <a:avLst/>
          </a:prstGeom>
          <a:solidFill>
            <a:srgbClr val="2E6DB4"/>
          </a:solidFill>
          <a:ln w="12700">
            <a:solidFill>
              <a:srgbClr val="2E6DB4"/>
            </a:solidFill>
            <a:prstDash val="solid"/>
          </a:ln>
        </p:spPr>
      </p:sp>
      <p:sp>
        <p:nvSpPr>
          <p:cNvPr id="31" name="Text 29"/>
          <p:cNvSpPr/>
          <p:nvPr/>
        </p:nvSpPr>
        <p:spPr>
          <a:xfrm>
            <a:off x="5138928" y="2935224"/>
            <a:ext cx="356616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Atomicity</a:t>
            </a:r>
            <a:endParaRPr lang="en-US" sz="1000" dirty="0"/>
          </a:p>
        </p:txBody>
      </p:sp>
      <p:sp>
        <p:nvSpPr>
          <p:cNvPr id="32" name="Text 30"/>
          <p:cNvSpPr/>
          <p:nvPr/>
        </p:nvSpPr>
        <p:spPr>
          <a:xfrm>
            <a:off x="4800600" y="3236976"/>
            <a:ext cx="4023360" cy="292608"/>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 student is enrolled in all courses within a slot, or none — no partial allocations possible.</a:t>
            </a:r>
            <a:endParaRPr lang="en-US" sz="900" dirty="0"/>
          </a:p>
        </p:txBody>
      </p:sp>
      <p:sp>
        <p:nvSpPr>
          <p:cNvPr id="33" name="Shape 31"/>
          <p:cNvSpPr/>
          <p:nvPr/>
        </p:nvSpPr>
        <p:spPr>
          <a:xfrm>
            <a:off x="4709160" y="3602736"/>
            <a:ext cx="4206240" cy="621792"/>
          </a:xfrm>
          <a:prstGeom prst="rect">
            <a:avLst/>
          </a:prstGeom>
          <a:solidFill>
            <a:srgbClr val="FFFFFF"/>
          </a:solidFill>
          <a:ln w="12700">
            <a:solidFill>
              <a:srgbClr val="E5EBF5"/>
            </a:solidFill>
            <a:prstDash val="solid"/>
          </a:ln>
        </p:spPr>
      </p:sp>
      <p:sp>
        <p:nvSpPr>
          <p:cNvPr id="34" name="Shape 32"/>
          <p:cNvSpPr/>
          <p:nvPr/>
        </p:nvSpPr>
        <p:spPr>
          <a:xfrm>
            <a:off x="4800600" y="3648456"/>
            <a:ext cx="256032" cy="256032"/>
          </a:xfrm>
          <a:prstGeom prst="ellipse">
            <a:avLst/>
          </a:prstGeom>
          <a:solidFill>
            <a:srgbClr val="F59E0B"/>
          </a:solidFill>
          <a:ln w="12700">
            <a:solidFill>
              <a:srgbClr val="F59E0B"/>
            </a:solidFill>
            <a:prstDash val="solid"/>
          </a:ln>
        </p:spPr>
      </p:sp>
      <p:sp>
        <p:nvSpPr>
          <p:cNvPr id="35" name="Text 33"/>
          <p:cNvSpPr/>
          <p:nvPr/>
        </p:nvSpPr>
        <p:spPr>
          <a:xfrm>
            <a:off x="5138928" y="3648456"/>
            <a:ext cx="356616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Deadlock Freedom</a:t>
            </a:r>
            <a:endParaRPr lang="en-US" sz="1000" dirty="0"/>
          </a:p>
        </p:txBody>
      </p:sp>
      <p:sp>
        <p:nvSpPr>
          <p:cNvPr id="36" name="Text 34"/>
          <p:cNvSpPr/>
          <p:nvPr/>
        </p:nvSpPr>
        <p:spPr>
          <a:xfrm>
            <a:off x="4800600" y="3950208"/>
            <a:ext cx="4023360" cy="292608"/>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Concurrent transactions must never stall each other in circular lock waits.</a:t>
            </a:r>
            <a:endParaRPr lang="en-US" sz="900" dirty="0"/>
          </a:p>
        </p:txBody>
      </p:sp>
      <p:sp>
        <p:nvSpPr>
          <p:cNvPr id="37" name="Shape 35"/>
          <p:cNvSpPr/>
          <p:nvPr/>
        </p:nvSpPr>
        <p:spPr>
          <a:xfrm>
            <a:off x="4709160" y="4315968"/>
            <a:ext cx="4206240" cy="621792"/>
          </a:xfrm>
          <a:prstGeom prst="rect">
            <a:avLst/>
          </a:prstGeom>
          <a:solidFill>
            <a:srgbClr val="FFFFFF"/>
          </a:solidFill>
          <a:ln w="12700">
            <a:solidFill>
              <a:srgbClr val="E5EBF5"/>
            </a:solidFill>
            <a:prstDash val="solid"/>
          </a:ln>
        </p:spPr>
      </p:sp>
      <p:sp>
        <p:nvSpPr>
          <p:cNvPr id="38" name="Shape 36"/>
          <p:cNvSpPr/>
          <p:nvPr/>
        </p:nvSpPr>
        <p:spPr>
          <a:xfrm>
            <a:off x="4800600" y="4361688"/>
            <a:ext cx="256032" cy="256032"/>
          </a:xfrm>
          <a:prstGeom prst="ellipse">
            <a:avLst/>
          </a:prstGeom>
          <a:solidFill>
            <a:srgbClr val="1B2A4A"/>
          </a:solidFill>
          <a:ln w="12700">
            <a:solidFill>
              <a:srgbClr val="1B2A4A"/>
            </a:solidFill>
            <a:prstDash val="solid"/>
          </a:ln>
        </p:spPr>
      </p:sp>
      <p:sp>
        <p:nvSpPr>
          <p:cNvPr id="39" name="Text 37"/>
          <p:cNvSpPr/>
          <p:nvPr/>
        </p:nvSpPr>
        <p:spPr>
          <a:xfrm>
            <a:off x="5138928" y="4361688"/>
            <a:ext cx="356616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No Schema Surprises</a:t>
            </a:r>
            <a:endParaRPr lang="en-US" sz="1000" dirty="0"/>
          </a:p>
        </p:txBody>
      </p:sp>
      <p:sp>
        <p:nvSpPr>
          <p:cNvPr id="40" name="Text 38"/>
          <p:cNvSpPr/>
          <p:nvPr/>
        </p:nvSpPr>
        <p:spPr>
          <a:xfrm>
            <a:off x="4800600" y="4663440"/>
            <a:ext cx="4023360" cy="292608"/>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Spring Boot must refuse to start if entity definitions diverge from live DB tables.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System Architecture</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Four-layer design — each tier with a single, clear responsibility</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Shape 5"/>
          <p:cNvSpPr/>
          <p:nvPr/>
        </p:nvSpPr>
        <p:spPr>
          <a:xfrm>
            <a:off x="731520" y="1115568"/>
            <a:ext cx="7680960" cy="676656"/>
          </a:xfrm>
          <a:prstGeom prst="rect">
            <a:avLst/>
          </a:prstGeom>
          <a:solidFill>
            <a:srgbClr val="4A90D9"/>
          </a:solidFill>
          <a:ln w="12700">
            <a:solidFill>
              <a:srgbClr val="4A90D9"/>
            </a:solidFill>
            <a:prstDash val="solid"/>
          </a:ln>
        </p:spPr>
      </p:sp>
      <p:sp>
        <p:nvSpPr>
          <p:cNvPr id="8" name="Shape 6"/>
          <p:cNvSpPr/>
          <p:nvPr/>
        </p:nvSpPr>
        <p:spPr>
          <a:xfrm>
            <a:off x="731520" y="1115568"/>
            <a:ext cx="1920240" cy="676656"/>
          </a:xfrm>
          <a:prstGeom prst="rect">
            <a:avLst/>
          </a:prstGeom>
          <a:solidFill>
            <a:srgbClr val="000000"/>
          </a:solidFill>
          <a:ln w="12700">
            <a:solidFill>
              <a:srgbClr val="4A90D9"/>
            </a:solidFill>
            <a:prstDash val="solid"/>
          </a:ln>
        </p:spPr>
      </p:sp>
      <p:sp>
        <p:nvSpPr>
          <p:cNvPr id="9" name="Text 7"/>
          <p:cNvSpPr/>
          <p:nvPr/>
        </p:nvSpPr>
        <p:spPr>
          <a:xfrm>
            <a:off x="777240" y="1179576"/>
            <a:ext cx="1828800" cy="54864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PRESENTATION LAYER</a:t>
            </a:r>
            <a:endParaRPr lang="en-US" sz="850" dirty="0"/>
          </a:p>
        </p:txBody>
      </p:sp>
      <p:sp>
        <p:nvSpPr>
          <p:cNvPr id="10" name="Shape 8"/>
          <p:cNvSpPr/>
          <p:nvPr/>
        </p:nvSpPr>
        <p:spPr>
          <a:xfrm>
            <a:off x="2788920" y="1225296"/>
            <a:ext cx="91440" cy="91440"/>
          </a:xfrm>
          <a:prstGeom prst="ellipse">
            <a:avLst/>
          </a:prstGeom>
          <a:solidFill>
            <a:srgbClr val="FFFFFF"/>
          </a:solidFill>
          <a:ln w="12700">
            <a:solidFill>
              <a:srgbClr val="FFFFFF"/>
            </a:solidFill>
            <a:prstDash val="solid"/>
          </a:ln>
        </p:spPr>
      </p:sp>
      <p:sp>
        <p:nvSpPr>
          <p:cNvPr id="11" name="Text 9"/>
          <p:cNvSpPr/>
          <p:nvPr/>
        </p:nvSpPr>
        <p:spPr>
          <a:xfrm>
            <a:off x="2944368" y="1179576"/>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Thymeleaf templates (slot-selection.html, result.html)</a:t>
            </a:r>
            <a:endParaRPr lang="en-US" sz="950" dirty="0"/>
          </a:p>
        </p:txBody>
      </p:sp>
      <p:sp>
        <p:nvSpPr>
          <p:cNvPr id="12" name="Shape 10"/>
          <p:cNvSpPr/>
          <p:nvPr/>
        </p:nvSpPr>
        <p:spPr>
          <a:xfrm>
            <a:off x="2788920" y="1481328"/>
            <a:ext cx="91440" cy="91440"/>
          </a:xfrm>
          <a:prstGeom prst="ellipse">
            <a:avLst/>
          </a:prstGeom>
          <a:solidFill>
            <a:srgbClr val="FFFFFF"/>
          </a:solidFill>
          <a:ln w="12700">
            <a:solidFill>
              <a:srgbClr val="FFFFFF"/>
            </a:solidFill>
            <a:prstDash val="solid"/>
          </a:ln>
        </p:spPr>
      </p:sp>
      <p:sp>
        <p:nvSpPr>
          <p:cNvPr id="13" name="Text 11"/>
          <p:cNvSpPr/>
          <p:nvPr/>
        </p:nvSpPr>
        <p:spPr>
          <a:xfrm>
            <a:off x="2944368" y="1453896"/>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No business logic — binds to model attributes from controller</a:t>
            </a:r>
            <a:endParaRPr lang="en-US" sz="950" dirty="0"/>
          </a:p>
        </p:txBody>
      </p:sp>
      <p:sp>
        <p:nvSpPr>
          <p:cNvPr id="14" name="Shape 12"/>
          <p:cNvSpPr/>
          <p:nvPr/>
        </p:nvSpPr>
        <p:spPr>
          <a:xfrm>
            <a:off x="4480560" y="1792224"/>
            <a:ext cx="91440" cy="91440"/>
          </a:xfrm>
          <a:prstGeom prst="rect">
            <a:avLst/>
          </a:prstGeom>
          <a:solidFill>
            <a:srgbClr val="6B7280"/>
          </a:solidFill>
          <a:ln w="12700">
            <a:solidFill>
              <a:srgbClr val="6B7280"/>
            </a:solidFill>
            <a:prstDash val="solid"/>
          </a:ln>
        </p:spPr>
      </p:sp>
      <p:sp>
        <p:nvSpPr>
          <p:cNvPr id="15" name="Shape 13"/>
          <p:cNvSpPr/>
          <p:nvPr/>
        </p:nvSpPr>
        <p:spPr>
          <a:xfrm>
            <a:off x="731520" y="1883664"/>
            <a:ext cx="7680960" cy="676656"/>
          </a:xfrm>
          <a:prstGeom prst="rect">
            <a:avLst/>
          </a:prstGeom>
          <a:solidFill>
            <a:srgbClr val="2E6DB4"/>
          </a:solidFill>
          <a:ln w="12700">
            <a:solidFill>
              <a:srgbClr val="2E6DB4"/>
            </a:solidFill>
            <a:prstDash val="solid"/>
          </a:ln>
        </p:spPr>
      </p:sp>
      <p:sp>
        <p:nvSpPr>
          <p:cNvPr id="16" name="Shape 14"/>
          <p:cNvSpPr/>
          <p:nvPr/>
        </p:nvSpPr>
        <p:spPr>
          <a:xfrm>
            <a:off x="731520" y="1883664"/>
            <a:ext cx="1920240" cy="676656"/>
          </a:xfrm>
          <a:prstGeom prst="rect">
            <a:avLst/>
          </a:prstGeom>
          <a:solidFill>
            <a:srgbClr val="000000"/>
          </a:solidFill>
          <a:ln w="12700">
            <a:solidFill>
              <a:srgbClr val="2E6DB4"/>
            </a:solidFill>
            <a:prstDash val="solid"/>
          </a:ln>
        </p:spPr>
      </p:sp>
      <p:sp>
        <p:nvSpPr>
          <p:cNvPr id="17" name="Text 15"/>
          <p:cNvSpPr/>
          <p:nvPr/>
        </p:nvSpPr>
        <p:spPr>
          <a:xfrm>
            <a:off x="777240" y="1947672"/>
            <a:ext cx="1828800" cy="54864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CONTROLLER LAYER</a:t>
            </a:r>
            <a:endParaRPr lang="en-US" sz="850" dirty="0"/>
          </a:p>
        </p:txBody>
      </p:sp>
      <p:sp>
        <p:nvSpPr>
          <p:cNvPr id="18" name="Shape 16"/>
          <p:cNvSpPr/>
          <p:nvPr/>
        </p:nvSpPr>
        <p:spPr>
          <a:xfrm>
            <a:off x="2788920" y="1993392"/>
            <a:ext cx="91440" cy="91440"/>
          </a:xfrm>
          <a:prstGeom prst="ellipse">
            <a:avLst/>
          </a:prstGeom>
          <a:solidFill>
            <a:srgbClr val="FFFFFF"/>
          </a:solidFill>
          <a:ln w="12700">
            <a:solidFill>
              <a:srgbClr val="FFFFFF"/>
            </a:solidFill>
            <a:prstDash val="solid"/>
          </a:ln>
        </p:spPr>
      </p:sp>
      <p:sp>
        <p:nvSpPr>
          <p:cNvPr id="19" name="Text 17"/>
          <p:cNvSpPr/>
          <p:nvPr/>
        </p:nvSpPr>
        <p:spPr>
          <a:xfrm>
            <a:off x="2944368" y="1947672"/>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RegistrationController — MVC / Thymeleaf browser flows</a:t>
            </a:r>
            <a:endParaRPr lang="en-US" sz="950" dirty="0"/>
          </a:p>
        </p:txBody>
      </p:sp>
      <p:sp>
        <p:nvSpPr>
          <p:cNvPr id="20" name="Shape 18"/>
          <p:cNvSpPr/>
          <p:nvPr/>
        </p:nvSpPr>
        <p:spPr>
          <a:xfrm>
            <a:off x="2788920" y="2249424"/>
            <a:ext cx="91440" cy="91440"/>
          </a:xfrm>
          <a:prstGeom prst="ellipse">
            <a:avLst/>
          </a:prstGeom>
          <a:solidFill>
            <a:srgbClr val="FFFFFF"/>
          </a:solidFill>
          <a:ln w="12700">
            <a:solidFill>
              <a:srgbClr val="FFFFFF"/>
            </a:solidFill>
            <a:prstDash val="solid"/>
          </a:ln>
        </p:spPr>
      </p:sp>
      <p:sp>
        <p:nvSpPr>
          <p:cNvPr id="21" name="Text 19"/>
          <p:cNvSpPr/>
          <p:nvPr/>
        </p:nvSpPr>
        <p:spPr>
          <a:xfrm>
            <a:off x="2944368" y="2221992"/>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SlotController — REST API (JSON) for programmatic access</a:t>
            </a:r>
            <a:endParaRPr lang="en-US" sz="950" dirty="0"/>
          </a:p>
        </p:txBody>
      </p:sp>
      <p:sp>
        <p:nvSpPr>
          <p:cNvPr id="22" name="Shape 20"/>
          <p:cNvSpPr/>
          <p:nvPr/>
        </p:nvSpPr>
        <p:spPr>
          <a:xfrm>
            <a:off x="4480560" y="2560320"/>
            <a:ext cx="91440" cy="91440"/>
          </a:xfrm>
          <a:prstGeom prst="rect">
            <a:avLst/>
          </a:prstGeom>
          <a:solidFill>
            <a:srgbClr val="6B7280"/>
          </a:solidFill>
          <a:ln w="12700">
            <a:solidFill>
              <a:srgbClr val="6B7280"/>
            </a:solidFill>
            <a:prstDash val="solid"/>
          </a:ln>
        </p:spPr>
      </p:sp>
      <p:sp>
        <p:nvSpPr>
          <p:cNvPr id="23" name="Shape 21"/>
          <p:cNvSpPr/>
          <p:nvPr/>
        </p:nvSpPr>
        <p:spPr>
          <a:xfrm>
            <a:off x="731520" y="2651760"/>
            <a:ext cx="7680960" cy="676656"/>
          </a:xfrm>
          <a:prstGeom prst="rect">
            <a:avLst/>
          </a:prstGeom>
          <a:solidFill>
            <a:srgbClr val="1E4D8C"/>
          </a:solidFill>
          <a:ln w="12700">
            <a:solidFill>
              <a:srgbClr val="1E4D8C"/>
            </a:solidFill>
            <a:prstDash val="solid"/>
          </a:ln>
        </p:spPr>
      </p:sp>
      <p:sp>
        <p:nvSpPr>
          <p:cNvPr id="24" name="Shape 22"/>
          <p:cNvSpPr/>
          <p:nvPr/>
        </p:nvSpPr>
        <p:spPr>
          <a:xfrm>
            <a:off x="731520" y="2651760"/>
            <a:ext cx="1920240" cy="676656"/>
          </a:xfrm>
          <a:prstGeom prst="rect">
            <a:avLst/>
          </a:prstGeom>
          <a:solidFill>
            <a:srgbClr val="000000"/>
          </a:solidFill>
          <a:ln w="12700">
            <a:solidFill>
              <a:srgbClr val="1E4D8C"/>
            </a:solidFill>
            <a:prstDash val="solid"/>
          </a:ln>
        </p:spPr>
      </p:sp>
      <p:sp>
        <p:nvSpPr>
          <p:cNvPr id="25" name="Text 23"/>
          <p:cNvSpPr/>
          <p:nvPr/>
        </p:nvSpPr>
        <p:spPr>
          <a:xfrm>
            <a:off x="777240" y="2715768"/>
            <a:ext cx="1828800" cy="54864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SERVICE LAYER</a:t>
            </a:r>
            <a:endParaRPr lang="en-US" sz="850" dirty="0"/>
          </a:p>
        </p:txBody>
      </p:sp>
      <p:sp>
        <p:nvSpPr>
          <p:cNvPr id="26" name="Shape 24"/>
          <p:cNvSpPr/>
          <p:nvPr/>
        </p:nvSpPr>
        <p:spPr>
          <a:xfrm>
            <a:off x="2788920" y="2761488"/>
            <a:ext cx="91440" cy="91440"/>
          </a:xfrm>
          <a:prstGeom prst="ellipse">
            <a:avLst/>
          </a:prstGeom>
          <a:solidFill>
            <a:srgbClr val="FFFFFF"/>
          </a:solidFill>
          <a:ln w="12700">
            <a:solidFill>
              <a:srgbClr val="FFFFFF"/>
            </a:solidFill>
            <a:prstDash val="solid"/>
          </a:ln>
        </p:spPr>
      </p:sp>
      <p:sp>
        <p:nvSpPr>
          <p:cNvPr id="27" name="Text 25"/>
          <p:cNvSpPr/>
          <p:nvPr/>
        </p:nvSpPr>
        <p:spPr>
          <a:xfrm>
            <a:off x="2944368" y="2715768"/>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AllocationService — @Transactional write logic (FCFS core)</a:t>
            </a:r>
            <a:endParaRPr lang="en-US" sz="950" dirty="0"/>
          </a:p>
        </p:txBody>
      </p:sp>
      <p:sp>
        <p:nvSpPr>
          <p:cNvPr id="28" name="Shape 26"/>
          <p:cNvSpPr/>
          <p:nvPr/>
        </p:nvSpPr>
        <p:spPr>
          <a:xfrm>
            <a:off x="2788920" y="3017520"/>
            <a:ext cx="91440" cy="91440"/>
          </a:xfrm>
          <a:prstGeom prst="ellipse">
            <a:avLst/>
          </a:prstGeom>
          <a:solidFill>
            <a:srgbClr val="FFFFFF"/>
          </a:solidFill>
          <a:ln w="12700">
            <a:solidFill>
              <a:srgbClr val="FFFFFF"/>
            </a:solidFill>
            <a:prstDash val="solid"/>
          </a:ln>
        </p:spPr>
      </p:sp>
      <p:sp>
        <p:nvSpPr>
          <p:cNvPr id="29" name="Text 27"/>
          <p:cNvSpPr/>
          <p:nvPr/>
        </p:nvSpPr>
        <p:spPr>
          <a:xfrm>
            <a:off x="2944368" y="2990088"/>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SlotService — @Transactional(readOnly) for slot display</a:t>
            </a:r>
            <a:endParaRPr lang="en-US" sz="950" dirty="0"/>
          </a:p>
        </p:txBody>
      </p:sp>
      <p:sp>
        <p:nvSpPr>
          <p:cNvPr id="30" name="Shape 28"/>
          <p:cNvSpPr/>
          <p:nvPr/>
        </p:nvSpPr>
        <p:spPr>
          <a:xfrm>
            <a:off x="4480560" y="3328416"/>
            <a:ext cx="91440" cy="91440"/>
          </a:xfrm>
          <a:prstGeom prst="rect">
            <a:avLst/>
          </a:prstGeom>
          <a:solidFill>
            <a:srgbClr val="6B7280"/>
          </a:solidFill>
          <a:ln w="12700">
            <a:solidFill>
              <a:srgbClr val="6B7280"/>
            </a:solidFill>
            <a:prstDash val="solid"/>
          </a:ln>
        </p:spPr>
      </p:sp>
      <p:sp>
        <p:nvSpPr>
          <p:cNvPr id="31" name="Shape 29"/>
          <p:cNvSpPr/>
          <p:nvPr/>
        </p:nvSpPr>
        <p:spPr>
          <a:xfrm>
            <a:off x="731520" y="3419856"/>
            <a:ext cx="7680960" cy="676656"/>
          </a:xfrm>
          <a:prstGeom prst="rect">
            <a:avLst/>
          </a:prstGeom>
          <a:solidFill>
            <a:srgbClr val="1B2A4A"/>
          </a:solidFill>
          <a:ln w="12700">
            <a:solidFill>
              <a:srgbClr val="1B2A4A"/>
            </a:solidFill>
            <a:prstDash val="solid"/>
          </a:ln>
        </p:spPr>
      </p:sp>
      <p:sp>
        <p:nvSpPr>
          <p:cNvPr id="32" name="Shape 30"/>
          <p:cNvSpPr/>
          <p:nvPr/>
        </p:nvSpPr>
        <p:spPr>
          <a:xfrm>
            <a:off x="731520" y="3419856"/>
            <a:ext cx="1920240" cy="676656"/>
          </a:xfrm>
          <a:prstGeom prst="rect">
            <a:avLst/>
          </a:prstGeom>
          <a:solidFill>
            <a:srgbClr val="000000"/>
          </a:solidFill>
          <a:ln w="12700">
            <a:solidFill>
              <a:srgbClr val="1B2A4A"/>
            </a:solidFill>
            <a:prstDash val="solid"/>
          </a:ln>
        </p:spPr>
      </p:sp>
      <p:sp>
        <p:nvSpPr>
          <p:cNvPr id="33" name="Text 31"/>
          <p:cNvSpPr/>
          <p:nvPr/>
        </p:nvSpPr>
        <p:spPr>
          <a:xfrm>
            <a:off x="777240" y="3483864"/>
            <a:ext cx="1828800" cy="54864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REPOSITORY LAYER</a:t>
            </a:r>
            <a:endParaRPr lang="en-US" sz="850" dirty="0"/>
          </a:p>
        </p:txBody>
      </p:sp>
      <p:sp>
        <p:nvSpPr>
          <p:cNvPr id="34" name="Shape 32"/>
          <p:cNvSpPr/>
          <p:nvPr/>
        </p:nvSpPr>
        <p:spPr>
          <a:xfrm>
            <a:off x="2788920" y="3529584"/>
            <a:ext cx="91440" cy="91440"/>
          </a:xfrm>
          <a:prstGeom prst="ellipse">
            <a:avLst/>
          </a:prstGeom>
          <a:solidFill>
            <a:srgbClr val="FFFFFF"/>
          </a:solidFill>
          <a:ln w="12700">
            <a:solidFill>
              <a:srgbClr val="FFFFFF"/>
            </a:solidFill>
            <a:prstDash val="solid"/>
          </a:ln>
        </p:spPr>
      </p:sp>
      <p:sp>
        <p:nvSpPr>
          <p:cNvPr id="35" name="Text 33"/>
          <p:cNvSpPr/>
          <p:nvPr/>
        </p:nvSpPr>
        <p:spPr>
          <a:xfrm>
            <a:off x="2944368" y="3483864"/>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Spring Data JPA repositories backed by Hibernate 6</a:t>
            </a:r>
            <a:endParaRPr lang="en-US" sz="950" dirty="0"/>
          </a:p>
        </p:txBody>
      </p:sp>
      <p:sp>
        <p:nvSpPr>
          <p:cNvPr id="36" name="Shape 34"/>
          <p:cNvSpPr/>
          <p:nvPr/>
        </p:nvSpPr>
        <p:spPr>
          <a:xfrm>
            <a:off x="2788920" y="3785616"/>
            <a:ext cx="91440" cy="91440"/>
          </a:xfrm>
          <a:prstGeom prst="ellipse">
            <a:avLst/>
          </a:prstGeom>
          <a:solidFill>
            <a:srgbClr val="FFFFFF"/>
          </a:solidFill>
          <a:ln w="12700">
            <a:solidFill>
              <a:srgbClr val="FFFFFF"/>
            </a:solidFill>
            <a:prstDash val="solid"/>
          </a:ln>
        </p:spPr>
      </p:sp>
      <p:sp>
        <p:nvSpPr>
          <p:cNvPr id="37" name="Text 35"/>
          <p:cNvSpPr/>
          <p:nvPr/>
        </p:nvSpPr>
        <p:spPr>
          <a:xfrm>
            <a:off x="2944368" y="3758184"/>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Custom JPQL + native SQL for locking and projection queries</a:t>
            </a:r>
            <a:endParaRPr lang="en-US" sz="950" dirty="0"/>
          </a:p>
        </p:txBody>
      </p:sp>
      <p:sp>
        <p:nvSpPr>
          <p:cNvPr id="38" name="Shape 36"/>
          <p:cNvSpPr/>
          <p:nvPr/>
        </p:nvSpPr>
        <p:spPr>
          <a:xfrm>
            <a:off x="4480560" y="4096512"/>
            <a:ext cx="91440" cy="91440"/>
          </a:xfrm>
          <a:prstGeom prst="rect">
            <a:avLst/>
          </a:prstGeom>
          <a:solidFill>
            <a:srgbClr val="6B7280"/>
          </a:solidFill>
          <a:ln w="12700">
            <a:solidFill>
              <a:srgbClr val="6B7280"/>
            </a:solidFill>
            <a:prstDash val="solid"/>
          </a:ln>
        </p:spPr>
      </p:sp>
      <p:sp>
        <p:nvSpPr>
          <p:cNvPr id="39" name="Shape 37"/>
          <p:cNvSpPr/>
          <p:nvPr/>
        </p:nvSpPr>
        <p:spPr>
          <a:xfrm>
            <a:off x="731520" y="4187952"/>
            <a:ext cx="7680960" cy="676656"/>
          </a:xfrm>
          <a:prstGeom prst="rect">
            <a:avLst/>
          </a:prstGeom>
          <a:solidFill>
            <a:srgbClr val="1B2A4A"/>
          </a:solidFill>
          <a:ln w="12700">
            <a:solidFill>
              <a:srgbClr val="1B2A4A"/>
            </a:solidFill>
            <a:prstDash val="solid"/>
          </a:ln>
        </p:spPr>
      </p:sp>
      <p:sp>
        <p:nvSpPr>
          <p:cNvPr id="40" name="Shape 38"/>
          <p:cNvSpPr/>
          <p:nvPr/>
        </p:nvSpPr>
        <p:spPr>
          <a:xfrm>
            <a:off x="731520" y="4187952"/>
            <a:ext cx="1920240" cy="676656"/>
          </a:xfrm>
          <a:prstGeom prst="rect">
            <a:avLst/>
          </a:prstGeom>
          <a:solidFill>
            <a:srgbClr val="000000"/>
          </a:solidFill>
          <a:ln w="12700">
            <a:solidFill>
              <a:srgbClr val="1B2A4A"/>
            </a:solidFill>
            <a:prstDash val="solid"/>
          </a:ln>
        </p:spPr>
      </p:sp>
      <p:sp>
        <p:nvSpPr>
          <p:cNvPr id="41" name="Text 39"/>
          <p:cNvSpPr/>
          <p:nvPr/>
        </p:nvSpPr>
        <p:spPr>
          <a:xfrm>
            <a:off x="777240" y="4251960"/>
            <a:ext cx="1828800" cy="54864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PERSISTENCE LAYER</a:t>
            </a:r>
            <a:endParaRPr lang="en-US" sz="850" dirty="0"/>
          </a:p>
        </p:txBody>
      </p:sp>
      <p:sp>
        <p:nvSpPr>
          <p:cNvPr id="42" name="Shape 40"/>
          <p:cNvSpPr/>
          <p:nvPr/>
        </p:nvSpPr>
        <p:spPr>
          <a:xfrm>
            <a:off x="2788920" y="4297680"/>
            <a:ext cx="91440" cy="91440"/>
          </a:xfrm>
          <a:prstGeom prst="ellipse">
            <a:avLst/>
          </a:prstGeom>
          <a:solidFill>
            <a:srgbClr val="FFFFFF"/>
          </a:solidFill>
          <a:ln w="12700">
            <a:solidFill>
              <a:srgbClr val="FFFFFF"/>
            </a:solidFill>
            <a:prstDash val="solid"/>
          </a:ln>
        </p:spPr>
      </p:sp>
      <p:sp>
        <p:nvSpPr>
          <p:cNvPr id="43" name="Text 41"/>
          <p:cNvSpPr/>
          <p:nvPr/>
        </p:nvSpPr>
        <p:spPr>
          <a:xfrm>
            <a:off x="2944368" y="4251960"/>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PostgreSQL · ec2 schema · 5 tables</a:t>
            </a:r>
            <a:endParaRPr lang="en-US" sz="950" dirty="0"/>
          </a:p>
        </p:txBody>
      </p:sp>
      <p:sp>
        <p:nvSpPr>
          <p:cNvPr id="44" name="Shape 42"/>
          <p:cNvSpPr/>
          <p:nvPr/>
        </p:nvSpPr>
        <p:spPr>
          <a:xfrm>
            <a:off x="2788920" y="4553712"/>
            <a:ext cx="91440" cy="91440"/>
          </a:xfrm>
          <a:prstGeom prst="ellipse">
            <a:avLst/>
          </a:prstGeom>
          <a:solidFill>
            <a:srgbClr val="FFFFFF"/>
          </a:solidFill>
          <a:ln w="12700">
            <a:solidFill>
              <a:srgbClr val="FFFFFF"/>
            </a:solidFill>
            <a:prstDash val="solid"/>
          </a:ln>
        </p:spPr>
      </p:sp>
      <p:sp>
        <p:nvSpPr>
          <p:cNvPr id="45" name="Text 43"/>
          <p:cNvSpPr/>
          <p:nvPr/>
        </p:nvSpPr>
        <p:spPr>
          <a:xfrm>
            <a:off x="2944368" y="4526280"/>
            <a:ext cx="5303520" cy="25603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HikariCP connection pool · ddl-auto=validate</a:t>
            </a:r>
            <a:endParaRPr lang="en-US" sz="950" dirty="0"/>
          </a:p>
        </p:txBody>
      </p:sp>
      <p:sp>
        <p:nvSpPr>
          <p:cNvPr id="46" name="Shape 44"/>
          <p:cNvSpPr/>
          <p:nvPr/>
        </p:nvSpPr>
        <p:spPr>
          <a:xfrm>
            <a:off x="274320" y="4736592"/>
            <a:ext cx="8595360" cy="292608"/>
          </a:xfrm>
          <a:prstGeom prst="rect">
            <a:avLst/>
          </a:prstGeom>
          <a:solidFill>
            <a:srgbClr val="D6E4F7"/>
          </a:solidFill>
          <a:ln w="12700">
            <a:solidFill>
              <a:srgbClr val="2E6DB4"/>
            </a:solidFill>
            <a:prstDash val="solid"/>
          </a:ln>
        </p:spPr>
      </p:sp>
      <p:sp>
        <p:nvSpPr>
          <p:cNvPr id="47" name="Text 45"/>
          <p:cNvSpPr/>
          <p:nvPr/>
        </p:nvSpPr>
        <p:spPr>
          <a:xfrm>
            <a:off x="457200" y="4754880"/>
            <a:ext cx="8321040" cy="25603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Key Config: </a:t>
            </a:r>
            <a:r>
              <a:rPr lang="en-US" sz="900" dirty="0">
                <a:solidFill>
                  <a:srgbClr val="1B2A4A"/>
                </a:solidFill>
                <a:latin typeface="Calibri" pitchFamily="34" charset="0"/>
                <a:ea typeface="Calibri" pitchFamily="34" charset="-122"/>
                <a:cs typeface="Calibri" pitchFamily="34" charset="-120"/>
              </a:rPr>
              <a:t>ddl-auto=validate — Spring refuses to boot if any entity diverges from the live schema, protecting shared production tables from silent schema drift.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Database Design</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Schema decisions that enable fine-grained, group-level locking</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Shape 5"/>
          <p:cNvSpPr/>
          <p:nvPr/>
        </p:nvSpPr>
        <p:spPr>
          <a:xfrm>
            <a:off x="228600" y="1115568"/>
            <a:ext cx="2651760" cy="411480"/>
          </a:xfrm>
          <a:prstGeom prst="rect">
            <a:avLst/>
          </a:prstGeom>
          <a:solidFill>
            <a:srgbClr val="4A90D9"/>
          </a:solidFill>
          <a:ln w="12700">
            <a:solidFill>
              <a:srgbClr val="4A90D9"/>
            </a:solidFill>
            <a:prstDash val="solid"/>
          </a:ln>
        </p:spPr>
      </p:sp>
      <p:sp>
        <p:nvSpPr>
          <p:cNvPr id="8" name="Text 6"/>
          <p:cNvSpPr/>
          <p:nvPr/>
        </p:nvSpPr>
        <p:spPr>
          <a:xfrm>
            <a:off x="301752" y="1143000"/>
            <a:ext cx="25603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courses</a:t>
            </a:r>
            <a:endParaRPr lang="en-US" sz="900" dirty="0"/>
          </a:p>
        </p:txBody>
      </p:sp>
      <p:sp>
        <p:nvSpPr>
          <p:cNvPr id="9" name="Text 7"/>
          <p:cNvSpPr/>
          <p:nvPr/>
        </p:nvSpPr>
        <p:spPr>
          <a:xfrm>
            <a:off x="301752" y="1335024"/>
            <a:ext cx="25603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Master subject catalog</a:t>
            </a:r>
            <a:endParaRPr lang="en-US" sz="750" dirty="0"/>
          </a:p>
        </p:txBody>
      </p:sp>
      <p:sp>
        <p:nvSpPr>
          <p:cNvPr id="10" name="Shape 8"/>
          <p:cNvSpPr/>
          <p:nvPr/>
        </p:nvSpPr>
        <p:spPr>
          <a:xfrm>
            <a:off x="228600" y="1527048"/>
            <a:ext cx="2651760" cy="877824"/>
          </a:xfrm>
          <a:prstGeom prst="rect">
            <a:avLst/>
          </a:prstGeom>
          <a:solidFill>
            <a:srgbClr val="FFFFFF"/>
          </a:solidFill>
          <a:ln w="12700">
            <a:solidFill>
              <a:srgbClr val="E5EBF5"/>
            </a:solidFill>
            <a:prstDash val="solid"/>
          </a:ln>
        </p:spPr>
      </p:sp>
      <p:sp>
        <p:nvSpPr>
          <p:cNvPr id="11" name="Text 9"/>
          <p:cNvSpPr/>
          <p:nvPr/>
        </p:nvSpPr>
        <p:spPr>
          <a:xfrm>
            <a:off x="320040" y="1572768"/>
            <a:ext cx="2514600" cy="237744"/>
          </a:xfrm>
          <a:prstGeom prst="rect">
            <a:avLst/>
          </a:prstGeom>
          <a:noFill/>
          <a:ln/>
        </p:spPr>
        <p:txBody>
          <a:bodyPr wrap="square" lIns="0" tIns="0" rIns="0" bIns="0" rtlCol="0" anchor="ctr"/>
          <a:lstStyle/>
          <a:p>
            <a:pPr marL="0" indent="0">
              <a:buNone/>
            </a:pPr>
            <a:r>
              <a:rPr lang="en-US" sz="850" b="1" dirty="0">
                <a:solidFill>
                  <a:srgbClr val="4A90D9"/>
                </a:solidFill>
                <a:latin typeface="Calibri" pitchFamily="34" charset="0"/>
                <a:ea typeface="Calibri" pitchFamily="34" charset="-122"/>
                <a:cs typeface="Calibri" pitchFamily="34" charset="-120"/>
              </a:rPr>
              <a:t>crsid (PK)</a:t>
            </a:r>
            <a:endParaRPr lang="en-US" sz="850" dirty="0"/>
          </a:p>
        </p:txBody>
      </p:sp>
      <p:sp>
        <p:nvSpPr>
          <p:cNvPr id="12" name="Text 10"/>
          <p:cNvSpPr/>
          <p:nvPr/>
        </p:nvSpPr>
        <p:spPr>
          <a:xfrm>
            <a:off x="320040" y="1865376"/>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crsname</a:t>
            </a:r>
            <a:endParaRPr lang="en-US" sz="850" dirty="0"/>
          </a:p>
        </p:txBody>
      </p:sp>
      <p:sp>
        <p:nvSpPr>
          <p:cNvPr id="13" name="Text 11"/>
          <p:cNvSpPr/>
          <p:nvPr/>
        </p:nvSpPr>
        <p:spPr>
          <a:xfrm>
            <a:off x="320040" y="2157984"/>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crscode</a:t>
            </a:r>
            <a:endParaRPr lang="en-US" sz="850" dirty="0"/>
          </a:p>
        </p:txBody>
      </p:sp>
      <p:sp>
        <p:nvSpPr>
          <p:cNvPr id="14" name="Shape 12"/>
          <p:cNvSpPr/>
          <p:nvPr/>
        </p:nvSpPr>
        <p:spPr>
          <a:xfrm>
            <a:off x="3154680" y="1115568"/>
            <a:ext cx="2651760" cy="411480"/>
          </a:xfrm>
          <a:prstGeom prst="rect">
            <a:avLst/>
          </a:prstGeom>
          <a:solidFill>
            <a:srgbClr val="2E6DB4"/>
          </a:solidFill>
          <a:ln w="12700">
            <a:solidFill>
              <a:srgbClr val="2E6DB4"/>
            </a:solidFill>
            <a:prstDash val="solid"/>
          </a:ln>
        </p:spPr>
      </p:sp>
      <p:sp>
        <p:nvSpPr>
          <p:cNvPr id="15" name="Text 13"/>
          <p:cNvSpPr/>
          <p:nvPr/>
        </p:nvSpPr>
        <p:spPr>
          <a:xfrm>
            <a:off x="3227832" y="1143000"/>
            <a:ext cx="25603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termcourses</a:t>
            </a:r>
            <a:endParaRPr lang="en-US" sz="900" dirty="0"/>
          </a:p>
        </p:txBody>
      </p:sp>
      <p:sp>
        <p:nvSpPr>
          <p:cNvPr id="16" name="Text 14"/>
          <p:cNvSpPr/>
          <p:nvPr/>
        </p:nvSpPr>
        <p:spPr>
          <a:xfrm>
            <a:off x="3227832" y="1335024"/>
            <a:ext cx="25603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Course offering per term &amp; slot</a:t>
            </a:r>
            <a:endParaRPr lang="en-US" sz="750" dirty="0"/>
          </a:p>
        </p:txBody>
      </p:sp>
      <p:sp>
        <p:nvSpPr>
          <p:cNvPr id="17" name="Shape 15"/>
          <p:cNvSpPr/>
          <p:nvPr/>
        </p:nvSpPr>
        <p:spPr>
          <a:xfrm>
            <a:off x="3154680" y="1527048"/>
            <a:ext cx="2651760" cy="1170432"/>
          </a:xfrm>
          <a:prstGeom prst="rect">
            <a:avLst/>
          </a:prstGeom>
          <a:solidFill>
            <a:srgbClr val="FFFFFF"/>
          </a:solidFill>
          <a:ln w="12700">
            <a:solidFill>
              <a:srgbClr val="E5EBF5"/>
            </a:solidFill>
            <a:prstDash val="solid"/>
          </a:ln>
        </p:spPr>
      </p:sp>
      <p:sp>
        <p:nvSpPr>
          <p:cNvPr id="18" name="Text 16"/>
          <p:cNvSpPr/>
          <p:nvPr/>
        </p:nvSpPr>
        <p:spPr>
          <a:xfrm>
            <a:off x="3246120" y="1572768"/>
            <a:ext cx="2514600" cy="237744"/>
          </a:xfrm>
          <a:prstGeom prst="rect">
            <a:avLst/>
          </a:prstGeom>
          <a:noFill/>
          <a:ln/>
        </p:spPr>
        <p:txBody>
          <a:bodyPr wrap="square" lIns="0" tIns="0" rIns="0" bIns="0" rtlCol="0" anchor="ctr"/>
          <a:lstStyle/>
          <a:p>
            <a:pPr marL="0" indent="0">
              <a:buNone/>
            </a:pPr>
            <a:r>
              <a:rPr lang="en-US" sz="850" b="1" dirty="0">
                <a:solidFill>
                  <a:srgbClr val="2E6DB4"/>
                </a:solidFill>
                <a:latin typeface="Calibri" pitchFamily="34" charset="0"/>
                <a:ea typeface="Calibri" pitchFamily="34" charset="-122"/>
                <a:cs typeface="Calibri" pitchFamily="34" charset="-120"/>
              </a:rPr>
              <a:t>tcrid (PK)</a:t>
            </a:r>
            <a:endParaRPr lang="en-US" sz="850" dirty="0"/>
          </a:p>
        </p:txBody>
      </p:sp>
      <p:sp>
        <p:nvSpPr>
          <p:cNvPr id="19" name="Text 17"/>
          <p:cNvSpPr/>
          <p:nvPr/>
        </p:nvSpPr>
        <p:spPr>
          <a:xfrm>
            <a:off x="3246120" y="1865376"/>
            <a:ext cx="2514600" cy="237744"/>
          </a:xfrm>
          <a:prstGeom prst="rect">
            <a:avLst/>
          </a:prstGeom>
          <a:noFill/>
          <a:ln/>
        </p:spPr>
        <p:txBody>
          <a:bodyPr wrap="square" lIns="0" tIns="0" rIns="0" bIns="0" rtlCol="0" anchor="ctr"/>
          <a:lstStyle/>
          <a:p>
            <a:pPr marL="0" indent="0">
              <a:buNone/>
            </a:pPr>
            <a:r>
              <a:rPr lang="en-US" sz="850" b="1" dirty="0">
                <a:solidFill>
                  <a:srgbClr val="2E6DB4"/>
                </a:solidFill>
                <a:latin typeface="Calibri" pitchFamily="34" charset="0"/>
                <a:ea typeface="Calibri" pitchFamily="34" charset="-122"/>
                <a:cs typeface="Calibri" pitchFamily="34" charset="-120"/>
              </a:rPr>
              <a:t>tcrcrsid (FK)</a:t>
            </a:r>
            <a:endParaRPr lang="en-US" sz="850" dirty="0"/>
          </a:p>
        </p:txBody>
      </p:sp>
      <p:sp>
        <p:nvSpPr>
          <p:cNvPr id="20" name="Text 18"/>
          <p:cNvSpPr/>
          <p:nvPr/>
        </p:nvSpPr>
        <p:spPr>
          <a:xfrm>
            <a:off x="3246120" y="2157984"/>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tcrslot</a:t>
            </a:r>
            <a:endParaRPr lang="en-US" sz="850" dirty="0"/>
          </a:p>
        </p:txBody>
      </p:sp>
      <p:sp>
        <p:nvSpPr>
          <p:cNvPr id="21" name="Text 19"/>
          <p:cNvSpPr/>
          <p:nvPr/>
        </p:nvSpPr>
        <p:spPr>
          <a:xfrm>
            <a:off x="3246120" y="2450592"/>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tcrtrmid=78</a:t>
            </a:r>
            <a:endParaRPr lang="en-US" sz="850" dirty="0"/>
          </a:p>
        </p:txBody>
      </p:sp>
      <p:sp>
        <p:nvSpPr>
          <p:cNvPr id="22" name="Shape 20"/>
          <p:cNvSpPr/>
          <p:nvPr/>
        </p:nvSpPr>
        <p:spPr>
          <a:xfrm>
            <a:off x="6080760" y="1115568"/>
            <a:ext cx="2651760" cy="411480"/>
          </a:xfrm>
          <a:prstGeom prst="rect">
            <a:avLst/>
          </a:prstGeom>
          <a:solidFill>
            <a:srgbClr val="DC2626"/>
          </a:solidFill>
          <a:ln w="12700">
            <a:solidFill>
              <a:srgbClr val="DC2626"/>
            </a:solidFill>
            <a:prstDash val="solid"/>
          </a:ln>
        </p:spPr>
      </p:sp>
      <p:sp>
        <p:nvSpPr>
          <p:cNvPr id="23" name="Text 21"/>
          <p:cNvSpPr/>
          <p:nvPr/>
        </p:nvSpPr>
        <p:spPr>
          <a:xfrm>
            <a:off x="6153912" y="1143000"/>
            <a:ext cx="25603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termcourseavailablefor (TCAF)</a:t>
            </a:r>
            <a:endParaRPr lang="en-US" sz="900" dirty="0"/>
          </a:p>
        </p:txBody>
      </p:sp>
      <p:sp>
        <p:nvSpPr>
          <p:cNvPr id="24" name="Text 22"/>
          <p:cNvSpPr/>
          <p:nvPr/>
        </p:nvSpPr>
        <p:spPr>
          <a:xfrm>
            <a:off x="6153912" y="1335024"/>
            <a:ext cx="25603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Seat inventory · LOCK TARGET</a:t>
            </a:r>
            <a:endParaRPr lang="en-US" sz="750" dirty="0"/>
          </a:p>
        </p:txBody>
      </p:sp>
      <p:sp>
        <p:nvSpPr>
          <p:cNvPr id="25" name="Shape 23"/>
          <p:cNvSpPr/>
          <p:nvPr/>
        </p:nvSpPr>
        <p:spPr>
          <a:xfrm>
            <a:off x="6080760" y="1527048"/>
            <a:ext cx="2651760" cy="1463040"/>
          </a:xfrm>
          <a:prstGeom prst="rect">
            <a:avLst/>
          </a:prstGeom>
          <a:solidFill>
            <a:srgbClr val="FFFFFF"/>
          </a:solidFill>
          <a:ln w="12700">
            <a:solidFill>
              <a:srgbClr val="E5EBF5"/>
            </a:solidFill>
            <a:prstDash val="solid"/>
          </a:ln>
        </p:spPr>
      </p:sp>
      <p:sp>
        <p:nvSpPr>
          <p:cNvPr id="26" name="Text 24"/>
          <p:cNvSpPr/>
          <p:nvPr/>
        </p:nvSpPr>
        <p:spPr>
          <a:xfrm>
            <a:off x="6172200" y="1572768"/>
            <a:ext cx="2514600" cy="237744"/>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tcaid (PK)</a:t>
            </a:r>
            <a:endParaRPr lang="en-US" sz="850" dirty="0"/>
          </a:p>
        </p:txBody>
      </p:sp>
      <p:sp>
        <p:nvSpPr>
          <p:cNvPr id="27" name="Text 25"/>
          <p:cNvSpPr/>
          <p:nvPr/>
        </p:nvSpPr>
        <p:spPr>
          <a:xfrm>
            <a:off x="6172200" y="1865376"/>
            <a:ext cx="2514600" cy="237744"/>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tcatcrid (FK)</a:t>
            </a:r>
            <a:endParaRPr lang="en-US" sz="850" dirty="0"/>
          </a:p>
        </p:txBody>
      </p:sp>
      <p:sp>
        <p:nvSpPr>
          <p:cNvPr id="28" name="Text 26"/>
          <p:cNvSpPr/>
          <p:nvPr/>
        </p:nvSpPr>
        <p:spPr>
          <a:xfrm>
            <a:off x="6172200" y="2157984"/>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tcabchid</a:t>
            </a:r>
            <a:endParaRPr lang="en-US" sz="850" dirty="0"/>
          </a:p>
        </p:txBody>
      </p:sp>
      <p:sp>
        <p:nvSpPr>
          <p:cNvPr id="29" name="Text 27"/>
          <p:cNvSpPr/>
          <p:nvPr/>
        </p:nvSpPr>
        <p:spPr>
          <a:xfrm>
            <a:off x="6172200" y="2450592"/>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tca_seats</a:t>
            </a:r>
            <a:endParaRPr lang="en-US" sz="850" dirty="0"/>
          </a:p>
        </p:txBody>
      </p:sp>
      <p:sp>
        <p:nvSpPr>
          <p:cNvPr id="30" name="Text 28"/>
          <p:cNvSpPr/>
          <p:nvPr/>
        </p:nvSpPr>
        <p:spPr>
          <a:xfrm>
            <a:off x="6172200" y="2743200"/>
            <a:ext cx="2514600" cy="237744"/>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tca_booked ⬅ locked</a:t>
            </a:r>
            <a:endParaRPr lang="en-US" sz="850" dirty="0"/>
          </a:p>
        </p:txBody>
      </p:sp>
      <p:sp>
        <p:nvSpPr>
          <p:cNvPr id="31" name="Shape 29"/>
          <p:cNvSpPr/>
          <p:nvPr/>
        </p:nvSpPr>
        <p:spPr>
          <a:xfrm>
            <a:off x="1508760" y="3090672"/>
            <a:ext cx="2651760" cy="411480"/>
          </a:xfrm>
          <a:prstGeom prst="rect">
            <a:avLst/>
          </a:prstGeom>
          <a:solidFill>
            <a:srgbClr val="1E4D8C"/>
          </a:solidFill>
          <a:ln w="12700">
            <a:solidFill>
              <a:srgbClr val="1E4D8C"/>
            </a:solidFill>
            <a:prstDash val="solid"/>
          </a:ln>
        </p:spPr>
      </p:sp>
      <p:sp>
        <p:nvSpPr>
          <p:cNvPr id="32" name="Text 30"/>
          <p:cNvSpPr/>
          <p:nvPr/>
        </p:nvSpPr>
        <p:spPr>
          <a:xfrm>
            <a:off x="1581912" y="3118104"/>
            <a:ext cx="25603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studentregistrations</a:t>
            </a:r>
            <a:endParaRPr lang="en-US" sz="900" dirty="0"/>
          </a:p>
        </p:txBody>
      </p:sp>
      <p:sp>
        <p:nvSpPr>
          <p:cNvPr id="33" name="Text 31"/>
          <p:cNvSpPr/>
          <p:nvPr/>
        </p:nvSpPr>
        <p:spPr>
          <a:xfrm>
            <a:off x="1581912" y="3310128"/>
            <a:ext cx="25603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Links student to a registration term</a:t>
            </a:r>
            <a:endParaRPr lang="en-US" sz="750" dirty="0"/>
          </a:p>
        </p:txBody>
      </p:sp>
      <p:sp>
        <p:nvSpPr>
          <p:cNvPr id="34" name="Shape 32"/>
          <p:cNvSpPr/>
          <p:nvPr/>
        </p:nvSpPr>
        <p:spPr>
          <a:xfrm>
            <a:off x="1508760" y="3502152"/>
            <a:ext cx="2651760" cy="585216"/>
          </a:xfrm>
          <a:prstGeom prst="rect">
            <a:avLst/>
          </a:prstGeom>
          <a:solidFill>
            <a:srgbClr val="FFFFFF"/>
          </a:solidFill>
          <a:ln w="12700">
            <a:solidFill>
              <a:srgbClr val="E5EBF5"/>
            </a:solidFill>
            <a:prstDash val="solid"/>
          </a:ln>
        </p:spPr>
      </p:sp>
      <p:sp>
        <p:nvSpPr>
          <p:cNvPr id="35" name="Text 33"/>
          <p:cNvSpPr/>
          <p:nvPr/>
        </p:nvSpPr>
        <p:spPr>
          <a:xfrm>
            <a:off x="1600200" y="3547872"/>
            <a:ext cx="2514600" cy="237744"/>
          </a:xfrm>
          <a:prstGeom prst="rect">
            <a:avLst/>
          </a:prstGeom>
          <a:noFill/>
          <a:ln/>
        </p:spPr>
        <p:txBody>
          <a:bodyPr wrap="square" lIns="0" tIns="0" rIns="0" bIns="0" rtlCol="0" anchor="ctr"/>
          <a:lstStyle/>
          <a:p>
            <a:pPr marL="0" indent="0">
              <a:buNone/>
            </a:pPr>
            <a:r>
              <a:rPr lang="en-US" sz="850" b="1" dirty="0">
                <a:solidFill>
                  <a:srgbClr val="1E4D8C"/>
                </a:solidFill>
                <a:latin typeface="Calibri" pitchFamily="34" charset="0"/>
                <a:ea typeface="Calibri" pitchFamily="34" charset="-122"/>
                <a:cs typeface="Calibri" pitchFamily="34" charset="-120"/>
              </a:rPr>
              <a:t>srgid (PK)</a:t>
            </a:r>
            <a:endParaRPr lang="en-US" sz="850" dirty="0"/>
          </a:p>
        </p:txBody>
      </p:sp>
      <p:sp>
        <p:nvSpPr>
          <p:cNvPr id="36" name="Text 34"/>
          <p:cNvSpPr/>
          <p:nvPr/>
        </p:nvSpPr>
        <p:spPr>
          <a:xfrm>
            <a:off x="1600200" y="3840480"/>
            <a:ext cx="2514600" cy="237744"/>
          </a:xfrm>
          <a:prstGeom prst="rect">
            <a:avLst/>
          </a:prstGeom>
          <a:noFill/>
          <a:ln/>
        </p:spPr>
        <p:txBody>
          <a:bodyPr wrap="square" lIns="0" tIns="0" rIns="0" bIns="0" rtlCol="0" anchor="ctr"/>
          <a:lstStyle/>
          <a:p>
            <a:pPr marL="0" indent="0">
              <a:buNone/>
            </a:pPr>
            <a:r>
              <a:rPr lang="en-US" sz="850" b="1" dirty="0">
                <a:solidFill>
                  <a:srgbClr val="1E4D8C"/>
                </a:solidFill>
                <a:latin typeface="Calibri" pitchFamily="34" charset="0"/>
                <a:ea typeface="Calibri" pitchFamily="34" charset="-122"/>
                <a:cs typeface="Calibri" pitchFamily="34" charset="-120"/>
              </a:rPr>
              <a:t>srgstdid (FK → students)</a:t>
            </a:r>
            <a:endParaRPr lang="en-US" sz="850" dirty="0"/>
          </a:p>
        </p:txBody>
      </p:sp>
      <p:sp>
        <p:nvSpPr>
          <p:cNvPr id="37" name="Shape 35"/>
          <p:cNvSpPr/>
          <p:nvPr/>
        </p:nvSpPr>
        <p:spPr>
          <a:xfrm>
            <a:off x="4434840" y="3090672"/>
            <a:ext cx="2651760" cy="411480"/>
          </a:xfrm>
          <a:prstGeom prst="rect">
            <a:avLst/>
          </a:prstGeom>
          <a:solidFill>
            <a:srgbClr val="16A34A"/>
          </a:solidFill>
          <a:ln w="12700">
            <a:solidFill>
              <a:srgbClr val="16A34A"/>
            </a:solidFill>
            <a:prstDash val="solid"/>
          </a:ln>
        </p:spPr>
      </p:sp>
      <p:sp>
        <p:nvSpPr>
          <p:cNvPr id="38" name="Text 36"/>
          <p:cNvSpPr/>
          <p:nvPr/>
        </p:nvSpPr>
        <p:spPr>
          <a:xfrm>
            <a:off x="4507992" y="3118104"/>
            <a:ext cx="25603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studentregistrationcourses</a:t>
            </a:r>
            <a:endParaRPr lang="en-US" sz="900" dirty="0"/>
          </a:p>
        </p:txBody>
      </p:sp>
      <p:sp>
        <p:nvSpPr>
          <p:cNvPr id="39" name="Text 37"/>
          <p:cNvSpPr/>
          <p:nvPr/>
        </p:nvSpPr>
        <p:spPr>
          <a:xfrm>
            <a:off x="4507992" y="3310128"/>
            <a:ext cx="25603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One row per confirmed enrollment</a:t>
            </a:r>
            <a:endParaRPr lang="en-US" sz="750" dirty="0"/>
          </a:p>
        </p:txBody>
      </p:sp>
      <p:sp>
        <p:nvSpPr>
          <p:cNvPr id="40" name="Shape 38"/>
          <p:cNvSpPr/>
          <p:nvPr/>
        </p:nvSpPr>
        <p:spPr>
          <a:xfrm>
            <a:off x="4434840" y="3502152"/>
            <a:ext cx="2651760" cy="1170432"/>
          </a:xfrm>
          <a:prstGeom prst="rect">
            <a:avLst/>
          </a:prstGeom>
          <a:solidFill>
            <a:srgbClr val="FFFFFF"/>
          </a:solidFill>
          <a:ln w="12700">
            <a:solidFill>
              <a:srgbClr val="E5EBF5"/>
            </a:solidFill>
            <a:prstDash val="solid"/>
          </a:ln>
        </p:spPr>
      </p:sp>
      <p:sp>
        <p:nvSpPr>
          <p:cNvPr id="41" name="Text 39"/>
          <p:cNvSpPr/>
          <p:nvPr/>
        </p:nvSpPr>
        <p:spPr>
          <a:xfrm>
            <a:off x="4526280" y="3547872"/>
            <a:ext cx="2514600" cy="237744"/>
          </a:xfrm>
          <a:prstGeom prst="rect">
            <a:avLst/>
          </a:prstGeom>
          <a:noFill/>
          <a:ln/>
        </p:spPr>
        <p:txBody>
          <a:bodyPr wrap="square" lIns="0" tIns="0" rIns="0" bIns="0" rtlCol="0" anchor="ctr"/>
          <a:lstStyle/>
          <a:p>
            <a:pPr marL="0" indent="0">
              <a:buNone/>
            </a:pPr>
            <a:r>
              <a:rPr lang="en-US" sz="850" b="1" dirty="0">
                <a:solidFill>
                  <a:srgbClr val="16A34A"/>
                </a:solidFill>
                <a:latin typeface="Calibri" pitchFamily="34" charset="0"/>
                <a:ea typeface="Calibri" pitchFamily="34" charset="-122"/>
                <a:cs typeface="Calibri" pitchFamily="34" charset="-120"/>
              </a:rPr>
              <a:t>srcid (PK)</a:t>
            </a:r>
            <a:endParaRPr lang="en-US" sz="850" dirty="0"/>
          </a:p>
        </p:txBody>
      </p:sp>
      <p:sp>
        <p:nvSpPr>
          <p:cNvPr id="42" name="Text 40"/>
          <p:cNvSpPr/>
          <p:nvPr/>
        </p:nvSpPr>
        <p:spPr>
          <a:xfrm>
            <a:off x="4526280" y="3840480"/>
            <a:ext cx="2514600" cy="237744"/>
          </a:xfrm>
          <a:prstGeom prst="rect">
            <a:avLst/>
          </a:prstGeom>
          <a:noFill/>
          <a:ln/>
        </p:spPr>
        <p:txBody>
          <a:bodyPr wrap="square" lIns="0" tIns="0" rIns="0" bIns="0" rtlCol="0" anchor="ctr"/>
          <a:lstStyle/>
          <a:p>
            <a:pPr marL="0" indent="0">
              <a:buNone/>
            </a:pPr>
            <a:r>
              <a:rPr lang="en-US" sz="850" b="1" dirty="0">
                <a:solidFill>
                  <a:srgbClr val="16A34A"/>
                </a:solidFill>
                <a:latin typeface="Calibri" pitchFamily="34" charset="0"/>
                <a:ea typeface="Calibri" pitchFamily="34" charset="-122"/>
                <a:cs typeface="Calibri" pitchFamily="34" charset="-120"/>
              </a:rPr>
              <a:t>srcsrgid (FK)</a:t>
            </a:r>
            <a:endParaRPr lang="en-US" sz="850" dirty="0"/>
          </a:p>
        </p:txBody>
      </p:sp>
      <p:sp>
        <p:nvSpPr>
          <p:cNvPr id="43" name="Text 41"/>
          <p:cNvSpPr/>
          <p:nvPr/>
        </p:nvSpPr>
        <p:spPr>
          <a:xfrm>
            <a:off x="4526280" y="4133088"/>
            <a:ext cx="2514600" cy="237744"/>
          </a:xfrm>
          <a:prstGeom prst="rect">
            <a:avLst/>
          </a:prstGeom>
          <a:noFill/>
          <a:ln/>
        </p:spPr>
        <p:txBody>
          <a:bodyPr wrap="square" lIns="0" tIns="0" rIns="0" bIns="0" rtlCol="0" anchor="ctr"/>
          <a:lstStyle/>
          <a:p>
            <a:pPr marL="0" indent="0">
              <a:buNone/>
            </a:pPr>
            <a:r>
              <a:rPr lang="en-US" sz="850" b="1" dirty="0">
                <a:solidFill>
                  <a:srgbClr val="16A34A"/>
                </a:solidFill>
                <a:latin typeface="Calibri" pitchFamily="34" charset="0"/>
                <a:ea typeface="Calibri" pitchFamily="34" charset="-122"/>
                <a:cs typeface="Calibri" pitchFamily="34" charset="-120"/>
              </a:rPr>
              <a:t>srctcrid (FK)</a:t>
            </a:r>
            <a:endParaRPr lang="en-US" sz="850" dirty="0"/>
          </a:p>
        </p:txBody>
      </p:sp>
      <p:sp>
        <p:nvSpPr>
          <p:cNvPr id="44" name="Text 42"/>
          <p:cNvSpPr/>
          <p:nvPr/>
        </p:nvSpPr>
        <p:spPr>
          <a:xfrm>
            <a:off x="4526280" y="4425696"/>
            <a:ext cx="2514600" cy="237744"/>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srcstatus, srccreatedat</a:t>
            </a:r>
            <a:endParaRPr lang="en-US" sz="850" dirty="0"/>
          </a:p>
        </p:txBody>
      </p:sp>
      <p:sp>
        <p:nvSpPr>
          <p:cNvPr id="45" name="Shape 43"/>
          <p:cNvSpPr/>
          <p:nvPr/>
        </p:nvSpPr>
        <p:spPr>
          <a:xfrm>
            <a:off x="228600" y="4663440"/>
            <a:ext cx="8686800" cy="402336"/>
          </a:xfrm>
          <a:prstGeom prst="rect">
            <a:avLst/>
          </a:prstGeom>
          <a:solidFill>
            <a:srgbClr val="D6E4F7"/>
          </a:solidFill>
          <a:ln w="12700">
            <a:solidFill>
              <a:srgbClr val="2E6DB4"/>
            </a:solidFill>
            <a:prstDash val="solid"/>
          </a:ln>
        </p:spPr>
      </p:sp>
      <p:sp>
        <p:nvSpPr>
          <p:cNvPr id="46" name="Text 44"/>
          <p:cNvSpPr/>
          <p:nvPr/>
        </p:nvSpPr>
        <p:spPr>
          <a:xfrm>
            <a:off x="365760" y="4690872"/>
            <a:ext cx="8412480" cy="34747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Key Design Decision: </a:t>
            </a:r>
            <a:r>
              <a:rPr lang="en-US" sz="950" dirty="0">
                <a:solidFill>
                  <a:srgbClr val="1B2A4A"/>
                </a:solidFill>
                <a:latin typeface="Calibri" pitchFamily="34" charset="0"/>
                <a:ea typeface="Calibri" pitchFamily="34" charset="-122"/>
                <a:cs typeface="Calibri" pitchFamily="34" charset="-120"/>
              </a:rPr>
              <a:t>Seat inventory placed in TCAF at student-group-course granularity — not in termcourses. Two students from different groups competing for courses sharing the same termcourses row never block each other, minimising lock contention.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FCFS Allocation Algorithm</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Three sequential phases — governing invariant: no write before every lock is held</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Shape 5"/>
          <p:cNvSpPr/>
          <p:nvPr/>
        </p:nvSpPr>
        <p:spPr>
          <a:xfrm>
            <a:off x="256032" y="1078992"/>
            <a:ext cx="2834640" cy="502920"/>
          </a:xfrm>
          <a:prstGeom prst="rect">
            <a:avLst/>
          </a:prstGeom>
          <a:solidFill>
            <a:srgbClr val="16A34A"/>
          </a:solidFill>
          <a:ln w="12700">
            <a:solidFill>
              <a:srgbClr val="16A34A"/>
            </a:solidFill>
            <a:prstDash val="solid"/>
          </a:ln>
        </p:spPr>
      </p:sp>
      <p:sp>
        <p:nvSpPr>
          <p:cNvPr id="8" name="Text 6"/>
          <p:cNvSpPr/>
          <p:nvPr/>
        </p:nvSpPr>
        <p:spPr>
          <a:xfrm>
            <a:off x="329184" y="1097280"/>
            <a:ext cx="2724912"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0: Validation (Wait-Free)</a:t>
            </a:r>
            <a:endParaRPr lang="en-US" sz="1000" dirty="0"/>
          </a:p>
        </p:txBody>
      </p:sp>
      <p:sp>
        <p:nvSpPr>
          <p:cNvPr id="9" name="Shape 7"/>
          <p:cNvSpPr/>
          <p:nvPr/>
        </p:nvSpPr>
        <p:spPr>
          <a:xfrm>
            <a:off x="256032" y="1682496"/>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10" name="Shape 8"/>
          <p:cNvSpPr/>
          <p:nvPr/>
        </p:nvSpPr>
        <p:spPr>
          <a:xfrm>
            <a:off x="347472" y="1737360"/>
            <a:ext cx="201168" cy="201168"/>
          </a:xfrm>
          <a:prstGeom prst="ellipse">
            <a:avLst/>
          </a:prstGeom>
          <a:solidFill>
            <a:srgbClr val="16A34A"/>
          </a:solidFill>
          <a:ln w="12700">
            <a:solidFill>
              <a:srgbClr val="16A34A"/>
            </a:solidFill>
            <a:prstDash val="solid"/>
          </a:ln>
        </p:spPr>
      </p:sp>
      <p:sp>
        <p:nvSpPr>
          <p:cNvPr id="11" name="Text 9"/>
          <p:cNvSpPr/>
          <p:nvPr/>
        </p:nvSpPr>
        <p:spPr>
          <a:xfrm>
            <a:off x="347472" y="17373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2" name="Text 10"/>
          <p:cNvSpPr/>
          <p:nvPr/>
        </p:nvSpPr>
        <p:spPr>
          <a:xfrm>
            <a:off x="603504" y="1709928"/>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Call findTcaIdsBySlot(slotId) — projects PRIMARY KEYS ONLY into List&lt;Long&gt;</a:t>
            </a:r>
            <a:endParaRPr lang="en-US" sz="850" dirty="0"/>
          </a:p>
        </p:txBody>
      </p:sp>
      <p:sp>
        <p:nvSpPr>
          <p:cNvPr id="13" name="Shape 11"/>
          <p:cNvSpPr/>
          <p:nvPr/>
        </p:nvSpPr>
        <p:spPr>
          <a:xfrm>
            <a:off x="256032" y="2487168"/>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14" name="Shape 12"/>
          <p:cNvSpPr/>
          <p:nvPr/>
        </p:nvSpPr>
        <p:spPr>
          <a:xfrm>
            <a:off x="347472" y="2542032"/>
            <a:ext cx="201168" cy="201168"/>
          </a:xfrm>
          <a:prstGeom prst="ellipse">
            <a:avLst/>
          </a:prstGeom>
          <a:solidFill>
            <a:srgbClr val="16A34A"/>
          </a:solidFill>
          <a:ln w="12700">
            <a:solidFill>
              <a:srgbClr val="16A34A"/>
            </a:solidFill>
            <a:prstDash val="solid"/>
          </a:ln>
        </p:spPr>
      </p:sp>
      <p:sp>
        <p:nvSpPr>
          <p:cNvPr id="15" name="Text 13"/>
          <p:cNvSpPr/>
          <p:nvPr/>
        </p:nvSpPr>
        <p:spPr>
          <a:xfrm>
            <a:off x="347472" y="254203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6" name="Text 14"/>
          <p:cNvSpPr/>
          <p:nvPr/>
        </p:nvSpPr>
        <p:spPr>
          <a:xfrm>
            <a:off x="603504" y="2514600"/>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Critical: loading full entities here would populate Hibernate's L1 cache, causing Phase 1 SELECT FOR UPDATE to be answered from cache — bypassing the DB lock entirely</a:t>
            </a:r>
            <a:endParaRPr lang="en-US" sz="850" dirty="0"/>
          </a:p>
        </p:txBody>
      </p:sp>
      <p:sp>
        <p:nvSpPr>
          <p:cNvPr id="17" name="Shape 15"/>
          <p:cNvSpPr/>
          <p:nvPr/>
        </p:nvSpPr>
        <p:spPr>
          <a:xfrm>
            <a:off x="256032" y="3291840"/>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18" name="Shape 16"/>
          <p:cNvSpPr/>
          <p:nvPr/>
        </p:nvSpPr>
        <p:spPr>
          <a:xfrm>
            <a:off x="347472" y="3346704"/>
            <a:ext cx="201168" cy="201168"/>
          </a:xfrm>
          <a:prstGeom prst="ellipse">
            <a:avLst/>
          </a:prstGeom>
          <a:solidFill>
            <a:srgbClr val="16A34A"/>
          </a:solidFill>
          <a:ln w="12700">
            <a:solidFill>
              <a:srgbClr val="16A34A"/>
            </a:solidFill>
            <a:prstDash val="solid"/>
          </a:ln>
        </p:spPr>
      </p:sp>
      <p:sp>
        <p:nvSpPr>
          <p:cNvPr id="19" name="Text 17"/>
          <p:cNvSpPr/>
          <p:nvPr/>
        </p:nvSpPr>
        <p:spPr>
          <a:xfrm>
            <a:off x="347472" y="334670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603504" y="3319272"/>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Check if student already has an allocation → throw AlreadyEnrolledException</a:t>
            </a:r>
            <a:endParaRPr lang="en-US" sz="850" dirty="0"/>
          </a:p>
        </p:txBody>
      </p:sp>
      <p:sp>
        <p:nvSpPr>
          <p:cNvPr id="21" name="Shape 19"/>
          <p:cNvSpPr/>
          <p:nvPr/>
        </p:nvSpPr>
        <p:spPr>
          <a:xfrm>
            <a:off x="256032" y="4096512"/>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22" name="Shape 20"/>
          <p:cNvSpPr/>
          <p:nvPr/>
        </p:nvSpPr>
        <p:spPr>
          <a:xfrm>
            <a:off x="347472" y="4151376"/>
            <a:ext cx="201168" cy="201168"/>
          </a:xfrm>
          <a:prstGeom prst="ellipse">
            <a:avLst/>
          </a:prstGeom>
          <a:solidFill>
            <a:srgbClr val="16A34A"/>
          </a:solidFill>
          <a:ln w="12700">
            <a:solidFill>
              <a:srgbClr val="16A34A"/>
            </a:solidFill>
            <a:prstDash val="solid"/>
          </a:ln>
        </p:spPr>
      </p:sp>
      <p:sp>
        <p:nvSpPr>
          <p:cNvPr id="23" name="Text 21"/>
          <p:cNvSpPr/>
          <p:nvPr/>
        </p:nvSpPr>
        <p:spPr>
          <a:xfrm>
            <a:off x="347472" y="415137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4" name="Text 22"/>
          <p:cNvSpPr/>
          <p:nvPr/>
        </p:nvSpPr>
        <p:spPr>
          <a:xfrm>
            <a:off x="603504" y="4123944"/>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No locks acquired → satisfies the wait-free Doorway requirement (Hesselink et al.)</a:t>
            </a:r>
            <a:endParaRPr lang="en-US" sz="850" dirty="0"/>
          </a:p>
        </p:txBody>
      </p:sp>
      <p:sp>
        <p:nvSpPr>
          <p:cNvPr id="25" name="Shape 23"/>
          <p:cNvSpPr/>
          <p:nvPr/>
        </p:nvSpPr>
        <p:spPr>
          <a:xfrm>
            <a:off x="3090672" y="2606040"/>
            <a:ext cx="201168" cy="64008"/>
          </a:xfrm>
          <a:prstGeom prst="rect">
            <a:avLst/>
          </a:prstGeom>
          <a:solidFill>
            <a:srgbClr val="6B7280"/>
          </a:solidFill>
          <a:ln w="12700">
            <a:solidFill>
              <a:srgbClr val="6B7280"/>
            </a:solidFill>
            <a:prstDash val="solid"/>
          </a:ln>
        </p:spPr>
      </p:sp>
      <p:sp>
        <p:nvSpPr>
          <p:cNvPr id="26" name="Shape 24"/>
          <p:cNvSpPr/>
          <p:nvPr/>
        </p:nvSpPr>
        <p:spPr>
          <a:xfrm>
            <a:off x="3218688" y="1078992"/>
            <a:ext cx="2834640" cy="502920"/>
          </a:xfrm>
          <a:prstGeom prst="rect">
            <a:avLst/>
          </a:prstGeom>
          <a:solidFill>
            <a:srgbClr val="F59E0B"/>
          </a:solidFill>
          <a:ln w="12700">
            <a:solidFill>
              <a:srgbClr val="F59E0B"/>
            </a:solidFill>
            <a:prstDash val="solid"/>
          </a:ln>
        </p:spPr>
      </p:sp>
      <p:sp>
        <p:nvSpPr>
          <p:cNvPr id="27" name="Text 25"/>
          <p:cNvSpPr/>
          <p:nvPr/>
        </p:nvSpPr>
        <p:spPr>
          <a:xfrm>
            <a:off x="3291840" y="1097280"/>
            <a:ext cx="2724912"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1: Growing Phase (Lock Acquisition)</a:t>
            </a:r>
            <a:endParaRPr lang="en-US" sz="1000" dirty="0"/>
          </a:p>
        </p:txBody>
      </p:sp>
      <p:sp>
        <p:nvSpPr>
          <p:cNvPr id="28" name="Shape 26"/>
          <p:cNvSpPr/>
          <p:nvPr/>
        </p:nvSpPr>
        <p:spPr>
          <a:xfrm>
            <a:off x="3218688" y="1682496"/>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29" name="Shape 27"/>
          <p:cNvSpPr/>
          <p:nvPr/>
        </p:nvSpPr>
        <p:spPr>
          <a:xfrm>
            <a:off x="3310128" y="1737360"/>
            <a:ext cx="201168" cy="201168"/>
          </a:xfrm>
          <a:prstGeom prst="ellipse">
            <a:avLst/>
          </a:prstGeom>
          <a:solidFill>
            <a:srgbClr val="F59E0B"/>
          </a:solidFill>
          <a:ln w="12700">
            <a:solidFill>
              <a:srgbClr val="F59E0B"/>
            </a:solidFill>
            <a:prstDash val="solid"/>
          </a:ln>
        </p:spPr>
      </p:sp>
      <p:sp>
        <p:nvSpPr>
          <p:cNvPr id="30" name="Text 28"/>
          <p:cNvSpPr/>
          <p:nvPr/>
        </p:nvSpPr>
        <p:spPr>
          <a:xfrm>
            <a:off x="3310128" y="17373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1" name="Text 29"/>
          <p:cNvSpPr/>
          <p:nvPr/>
        </p:nvSpPr>
        <p:spPr>
          <a:xfrm>
            <a:off x="3566160" y="1709928"/>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Sort TCAF IDs ascending via Collections.sort() — every thread follows the same global ordering</a:t>
            </a:r>
            <a:endParaRPr lang="en-US" sz="850" dirty="0"/>
          </a:p>
        </p:txBody>
      </p:sp>
      <p:sp>
        <p:nvSpPr>
          <p:cNvPr id="32" name="Shape 30"/>
          <p:cNvSpPr/>
          <p:nvPr/>
        </p:nvSpPr>
        <p:spPr>
          <a:xfrm>
            <a:off x="3218688" y="2487168"/>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33" name="Shape 31"/>
          <p:cNvSpPr/>
          <p:nvPr/>
        </p:nvSpPr>
        <p:spPr>
          <a:xfrm>
            <a:off x="3310128" y="2542032"/>
            <a:ext cx="201168" cy="201168"/>
          </a:xfrm>
          <a:prstGeom prst="ellipse">
            <a:avLst/>
          </a:prstGeom>
          <a:solidFill>
            <a:srgbClr val="F59E0B"/>
          </a:solidFill>
          <a:ln w="12700">
            <a:solidFill>
              <a:srgbClr val="F59E0B"/>
            </a:solidFill>
            <a:prstDash val="solid"/>
          </a:ln>
        </p:spPr>
      </p:sp>
      <p:sp>
        <p:nvSpPr>
          <p:cNvPr id="34" name="Text 32"/>
          <p:cNvSpPr/>
          <p:nvPr/>
        </p:nvSpPr>
        <p:spPr>
          <a:xfrm>
            <a:off x="3310128" y="254203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5" name="Text 33"/>
          <p:cNvSpPr/>
          <p:nvPr/>
        </p:nvSpPr>
        <p:spPr>
          <a:xfrm>
            <a:off x="3566160" y="2514600"/>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For each sorted ID: findTcafByIdWithLock(tcaId) → issues SELECT ... FOR UPDATE to PostgreSQL</a:t>
            </a:r>
            <a:endParaRPr lang="en-US" sz="850" dirty="0"/>
          </a:p>
        </p:txBody>
      </p:sp>
      <p:sp>
        <p:nvSpPr>
          <p:cNvPr id="36" name="Shape 34"/>
          <p:cNvSpPr/>
          <p:nvPr/>
        </p:nvSpPr>
        <p:spPr>
          <a:xfrm>
            <a:off x="3218688" y="3291840"/>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37" name="Shape 35"/>
          <p:cNvSpPr/>
          <p:nvPr/>
        </p:nvSpPr>
        <p:spPr>
          <a:xfrm>
            <a:off x="3310128" y="3346704"/>
            <a:ext cx="201168" cy="201168"/>
          </a:xfrm>
          <a:prstGeom prst="ellipse">
            <a:avLst/>
          </a:prstGeom>
          <a:solidFill>
            <a:srgbClr val="F59E0B"/>
          </a:solidFill>
          <a:ln w="12700">
            <a:solidFill>
              <a:srgbClr val="F59E0B"/>
            </a:solidFill>
            <a:prstDash val="solid"/>
          </a:ln>
        </p:spPr>
      </p:sp>
      <p:sp>
        <p:nvSpPr>
          <p:cNvPr id="38" name="Text 36"/>
          <p:cNvSpPr/>
          <p:nvPr/>
        </p:nvSpPr>
        <p:spPr>
          <a:xfrm>
            <a:off x="3310128" y="334670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9" name="Text 37"/>
          <p:cNvSpPr/>
          <p:nvPr/>
        </p:nvSpPr>
        <p:spPr>
          <a:xfrm>
            <a:off x="3566160" y="3319272"/>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Phase does not exit until final lock in sorted list is granted</a:t>
            </a:r>
            <a:endParaRPr lang="en-US" sz="850" dirty="0"/>
          </a:p>
        </p:txBody>
      </p:sp>
      <p:sp>
        <p:nvSpPr>
          <p:cNvPr id="40" name="Shape 38"/>
          <p:cNvSpPr/>
          <p:nvPr/>
        </p:nvSpPr>
        <p:spPr>
          <a:xfrm>
            <a:off x="3218688" y="4096512"/>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41" name="Shape 39"/>
          <p:cNvSpPr/>
          <p:nvPr/>
        </p:nvSpPr>
        <p:spPr>
          <a:xfrm>
            <a:off x="3310128" y="4151376"/>
            <a:ext cx="201168" cy="201168"/>
          </a:xfrm>
          <a:prstGeom prst="ellipse">
            <a:avLst/>
          </a:prstGeom>
          <a:solidFill>
            <a:srgbClr val="F59E0B"/>
          </a:solidFill>
          <a:ln w="12700">
            <a:solidFill>
              <a:srgbClr val="F59E0B"/>
            </a:solidFill>
            <a:prstDash val="solid"/>
          </a:ln>
        </p:spPr>
      </p:sp>
      <p:sp>
        <p:nvSpPr>
          <p:cNvPr id="42" name="Text 40"/>
          <p:cNvSpPr/>
          <p:nvPr/>
        </p:nvSpPr>
        <p:spPr>
          <a:xfrm>
            <a:off x="3310128" y="415137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3" name="Text 41"/>
          <p:cNvSpPr/>
          <p:nvPr/>
        </p:nvSpPr>
        <p:spPr>
          <a:xfrm>
            <a:off x="3566160" y="4123944"/>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Eliminates circular-wait by construction → deadlock structurally impossible</a:t>
            </a:r>
            <a:endParaRPr lang="en-US" sz="850" dirty="0"/>
          </a:p>
        </p:txBody>
      </p:sp>
      <p:sp>
        <p:nvSpPr>
          <p:cNvPr id="44" name="Shape 42"/>
          <p:cNvSpPr/>
          <p:nvPr/>
        </p:nvSpPr>
        <p:spPr>
          <a:xfrm>
            <a:off x="6053328" y="2606040"/>
            <a:ext cx="201168" cy="64008"/>
          </a:xfrm>
          <a:prstGeom prst="rect">
            <a:avLst/>
          </a:prstGeom>
          <a:solidFill>
            <a:srgbClr val="6B7280"/>
          </a:solidFill>
          <a:ln w="12700">
            <a:solidFill>
              <a:srgbClr val="6B7280"/>
            </a:solidFill>
            <a:prstDash val="solid"/>
          </a:ln>
        </p:spPr>
      </p:sp>
      <p:sp>
        <p:nvSpPr>
          <p:cNvPr id="45" name="Shape 43"/>
          <p:cNvSpPr/>
          <p:nvPr/>
        </p:nvSpPr>
        <p:spPr>
          <a:xfrm>
            <a:off x="6181344" y="1078992"/>
            <a:ext cx="2834640" cy="502920"/>
          </a:xfrm>
          <a:prstGeom prst="rect">
            <a:avLst/>
          </a:prstGeom>
          <a:solidFill>
            <a:srgbClr val="2E6DB4"/>
          </a:solidFill>
          <a:ln w="12700">
            <a:solidFill>
              <a:srgbClr val="2E6DB4"/>
            </a:solidFill>
            <a:prstDash val="solid"/>
          </a:ln>
        </p:spPr>
      </p:sp>
      <p:sp>
        <p:nvSpPr>
          <p:cNvPr id="46" name="Text 44"/>
          <p:cNvSpPr/>
          <p:nvPr/>
        </p:nvSpPr>
        <p:spPr>
          <a:xfrm>
            <a:off x="6254496" y="1097280"/>
            <a:ext cx="2724912"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2: Atomic Modify (Write)</a:t>
            </a:r>
            <a:endParaRPr lang="en-US" sz="1000" dirty="0"/>
          </a:p>
        </p:txBody>
      </p:sp>
      <p:sp>
        <p:nvSpPr>
          <p:cNvPr id="47" name="Shape 45"/>
          <p:cNvSpPr/>
          <p:nvPr/>
        </p:nvSpPr>
        <p:spPr>
          <a:xfrm>
            <a:off x="6181344" y="1682496"/>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48" name="Shape 46"/>
          <p:cNvSpPr/>
          <p:nvPr/>
        </p:nvSpPr>
        <p:spPr>
          <a:xfrm>
            <a:off x="6272784" y="1737360"/>
            <a:ext cx="201168" cy="201168"/>
          </a:xfrm>
          <a:prstGeom prst="ellipse">
            <a:avLst/>
          </a:prstGeom>
          <a:solidFill>
            <a:srgbClr val="2E6DB4"/>
          </a:solidFill>
          <a:ln w="12700">
            <a:solidFill>
              <a:srgbClr val="2E6DB4"/>
            </a:solidFill>
            <a:prstDash val="solid"/>
          </a:ln>
        </p:spPr>
      </p:sp>
      <p:sp>
        <p:nvSpPr>
          <p:cNvPr id="49" name="Text 47"/>
          <p:cNvSpPr/>
          <p:nvPr/>
        </p:nvSpPr>
        <p:spPr>
          <a:xfrm>
            <a:off x="6272784" y="17373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0" name="Text 48"/>
          <p:cNvSpPr/>
          <p:nvPr/>
        </p:nvSpPr>
        <p:spPr>
          <a:xfrm>
            <a:off x="6528816" y="1709928"/>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With all locks held: check tca_booked &lt; tca_seats for each locked TCAF row</a:t>
            </a:r>
            <a:endParaRPr lang="en-US" sz="850" dirty="0"/>
          </a:p>
        </p:txBody>
      </p:sp>
      <p:sp>
        <p:nvSpPr>
          <p:cNvPr id="51" name="Shape 49"/>
          <p:cNvSpPr/>
          <p:nvPr/>
        </p:nvSpPr>
        <p:spPr>
          <a:xfrm>
            <a:off x="6181344" y="2487168"/>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52" name="Shape 50"/>
          <p:cNvSpPr/>
          <p:nvPr/>
        </p:nvSpPr>
        <p:spPr>
          <a:xfrm>
            <a:off x="6272784" y="2542032"/>
            <a:ext cx="201168" cy="201168"/>
          </a:xfrm>
          <a:prstGeom prst="ellipse">
            <a:avLst/>
          </a:prstGeom>
          <a:solidFill>
            <a:srgbClr val="2E6DB4"/>
          </a:solidFill>
          <a:ln w="12700">
            <a:solidFill>
              <a:srgbClr val="2E6DB4"/>
            </a:solidFill>
            <a:prstDash val="solid"/>
          </a:ln>
        </p:spPr>
      </p:sp>
      <p:sp>
        <p:nvSpPr>
          <p:cNvPr id="53" name="Text 51"/>
          <p:cNvSpPr/>
          <p:nvPr/>
        </p:nvSpPr>
        <p:spPr>
          <a:xfrm>
            <a:off x="6272784" y="254203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54" name="Text 52"/>
          <p:cNvSpPr/>
          <p:nvPr/>
        </p:nvSpPr>
        <p:spPr>
          <a:xfrm>
            <a:off x="6528816" y="2514600"/>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If any course is full → RuntimeException thrown → @Transactional rolls back all changes</a:t>
            </a:r>
            <a:endParaRPr lang="en-US" sz="850" dirty="0"/>
          </a:p>
        </p:txBody>
      </p:sp>
      <p:sp>
        <p:nvSpPr>
          <p:cNvPr id="55" name="Shape 53"/>
          <p:cNvSpPr/>
          <p:nvPr/>
        </p:nvSpPr>
        <p:spPr>
          <a:xfrm>
            <a:off x="6181344" y="3291840"/>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56" name="Shape 54"/>
          <p:cNvSpPr/>
          <p:nvPr/>
        </p:nvSpPr>
        <p:spPr>
          <a:xfrm>
            <a:off x="6272784" y="3346704"/>
            <a:ext cx="201168" cy="201168"/>
          </a:xfrm>
          <a:prstGeom prst="ellipse">
            <a:avLst/>
          </a:prstGeom>
          <a:solidFill>
            <a:srgbClr val="2E6DB4"/>
          </a:solidFill>
          <a:ln w="12700">
            <a:solidFill>
              <a:srgbClr val="2E6DB4"/>
            </a:solidFill>
            <a:prstDash val="solid"/>
          </a:ln>
        </p:spPr>
      </p:sp>
      <p:sp>
        <p:nvSpPr>
          <p:cNvPr id="57" name="Text 55"/>
          <p:cNvSpPr/>
          <p:nvPr/>
        </p:nvSpPr>
        <p:spPr>
          <a:xfrm>
            <a:off x="6272784" y="334670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58" name="Text 56"/>
          <p:cNvSpPr/>
          <p:nvPr/>
        </p:nvSpPr>
        <p:spPr>
          <a:xfrm>
            <a:off x="6528816" y="3319272"/>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Otherwise: increment tca_booked and INSERT StudentRegistrationCourses row per course</a:t>
            </a:r>
            <a:endParaRPr lang="en-US" sz="850" dirty="0"/>
          </a:p>
        </p:txBody>
      </p:sp>
      <p:sp>
        <p:nvSpPr>
          <p:cNvPr id="59" name="Shape 57"/>
          <p:cNvSpPr/>
          <p:nvPr/>
        </p:nvSpPr>
        <p:spPr>
          <a:xfrm>
            <a:off x="6181344" y="4096512"/>
            <a:ext cx="2834640" cy="713232"/>
          </a:xfrm>
          <a:prstGeom prst="rect">
            <a:avLst/>
          </a:prstGeom>
          <a:solidFill>
            <a:srgbClr val="FFFFFF"/>
          </a:solidFill>
          <a:ln w="12700">
            <a:solidFill>
              <a:srgbClr val="E5EBF5"/>
            </a:solidFill>
            <a:prstDash val="solid"/>
          </a:ln>
          <a:effectLst>
            <a:outerShdw blurRad="38100" dist="12700" dir="8100000" algn="bl" rotWithShape="0">
              <a:srgbClr val="000000">
                <a:alpha val="7000"/>
              </a:srgbClr>
            </a:outerShdw>
          </a:effectLst>
        </p:spPr>
      </p:sp>
      <p:sp>
        <p:nvSpPr>
          <p:cNvPr id="60" name="Shape 58"/>
          <p:cNvSpPr/>
          <p:nvPr/>
        </p:nvSpPr>
        <p:spPr>
          <a:xfrm>
            <a:off x="6272784" y="4151376"/>
            <a:ext cx="201168" cy="201168"/>
          </a:xfrm>
          <a:prstGeom prst="ellipse">
            <a:avLst/>
          </a:prstGeom>
          <a:solidFill>
            <a:srgbClr val="2E6DB4"/>
          </a:solidFill>
          <a:ln w="12700">
            <a:solidFill>
              <a:srgbClr val="2E6DB4"/>
            </a:solidFill>
            <a:prstDash val="solid"/>
          </a:ln>
        </p:spPr>
      </p:sp>
      <p:sp>
        <p:nvSpPr>
          <p:cNvPr id="61" name="Text 59"/>
          <p:cNvSpPr/>
          <p:nvPr/>
        </p:nvSpPr>
        <p:spPr>
          <a:xfrm>
            <a:off x="6272784" y="415137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62" name="Text 60"/>
          <p:cNvSpPr/>
          <p:nvPr/>
        </p:nvSpPr>
        <p:spPr>
          <a:xfrm>
            <a:off x="6528816" y="4123944"/>
            <a:ext cx="2423160" cy="6583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Transaction commits → all locks released atomically (2PL Shrinking Phase)</a:t>
            </a:r>
            <a:endParaRPr lang="en-US" sz="850" dirty="0"/>
          </a:p>
        </p:txBody>
      </p:sp>
      <p:sp>
        <p:nvSpPr>
          <p:cNvPr id="63" name="Shape 61"/>
          <p:cNvSpPr/>
          <p:nvPr/>
        </p:nvSpPr>
        <p:spPr>
          <a:xfrm>
            <a:off x="256032" y="4773168"/>
            <a:ext cx="8631936" cy="256032"/>
          </a:xfrm>
          <a:prstGeom prst="rect">
            <a:avLst/>
          </a:prstGeom>
          <a:solidFill>
            <a:srgbClr val="1B2A4A"/>
          </a:solidFill>
          <a:ln w="12700">
            <a:solidFill>
              <a:srgbClr val="1B2A4A"/>
            </a:solidFill>
            <a:prstDash val="solid"/>
          </a:ln>
        </p:spPr>
      </p:sp>
      <p:sp>
        <p:nvSpPr>
          <p:cNvPr id="64" name="Text 62"/>
          <p:cNvSpPr/>
          <p:nvPr/>
        </p:nvSpPr>
        <p:spPr>
          <a:xfrm>
            <a:off x="365760" y="4791456"/>
            <a:ext cx="8412480"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Governing Invariant: No tca_booked increment nor SRC insert may occur until every necessary lock is already held. Violating this re-opens the lost-update window.</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Concurrency Handling</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How the system guarantees correctness under maximum load</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Shape 5"/>
          <p:cNvSpPr/>
          <p:nvPr/>
        </p:nvSpPr>
        <p:spPr>
          <a:xfrm>
            <a:off x="256032" y="1115568"/>
            <a:ext cx="8631936" cy="82296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8" name="Shape 6"/>
          <p:cNvSpPr/>
          <p:nvPr/>
        </p:nvSpPr>
        <p:spPr>
          <a:xfrm>
            <a:off x="256032" y="1115568"/>
            <a:ext cx="64008" cy="822960"/>
          </a:xfrm>
          <a:prstGeom prst="rect">
            <a:avLst/>
          </a:prstGeom>
          <a:solidFill>
            <a:srgbClr val="1E4D8C"/>
          </a:solidFill>
          <a:ln w="12700">
            <a:solidFill>
              <a:srgbClr val="1E4D8C"/>
            </a:solidFill>
            <a:prstDash val="solid"/>
          </a:ln>
        </p:spPr>
      </p:sp>
      <p:sp>
        <p:nvSpPr>
          <p:cNvPr id="9" name="Text 7"/>
          <p:cNvSpPr/>
          <p:nvPr/>
        </p:nvSpPr>
        <p:spPr>
          <a:xfrm>
            <a:off x="457200" y="1179576"/>
            <a:ext cx="8229600" cy="256032"/>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Pessimistic Write Locking (SELECT FOR UPDATE)</a:t>
            </a:r>
            <a:endParaRPr lang="en-US" sz="1100" dirty="0"/>
          </a:p>
        </p:txBody>
      </p:sp>
      <p:sp>
        <p:nvSpPr>
          <p:cNvPr id="10" name="Text 8"/>
          <p:cNvSpPr/>
          <p:nvPr/>
        </p:nvSpPr>
        <p:spPr>
          <a:xfrm>
            <a:off x="457200" y="1463040"/>
            <a:ext cx="8229600" cy="4572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Once a transaction issues SELECT FOR UPDATE on a TCAF row, PostgreSQL places an exclusive row-level lock. Any competing transaction blocks until the holder commits or rolls back. The three logically separate steps — read seat count, check availability, write increment — become a single indivisible operation to any external observer. The read-modify-write gap is sealed.</a:t>
            </a:r>
            <a:endParaRPr lang="en-US" sz="950" dirty="0"/>
          </a:p>
        </p:txBody>
      </p:sp>
      <p:sp>
        <p:nvSpPr>
          <p:cNvPr id="11" name="Shape 9"/>
          <p:cNvSpPr/>
          <p:nvPr/>
        </p:nvSpPr>
        <p:spPr>
          <a:xfrm>
            <a:off x="256032" y="2066544"/>
            <a:ext cx="8631936" cy="82296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2" name="Shape 10"/>
          <p:cNvSpPr/>
          <p:nvPr/>
        </p:nvSpPr>
        <p:spPr>
          <a:xfrm>
            <a:off x="256032" y="2066544"/>
            <a:ext cx="64008" cy="822960"/>
          </a:xfrm>
          <a:prstGeom prst="rect">
            <a:avLst/>
          </a:prstGeom>
          <a:solidFill>
            <a:srgbClr val="F59E0B"/>
          </a:solidFill>
          <a:ln w="12700">
            <a:solidFill>
              <a:srgbClr val="F59E0B"/>
            </a:solidFill>
            <a:prstDash val="solid"/>
          </a:ln>
        </p:spPr>
      </p:sp>
      <p:sp>
        <p:nvSpPr>
          <p:cNvPr id="13" name="Text 11"/>
          <p:cNvSpPr/>
          <p:nvPr/>
        </p:nvSpPr>
        <p:spPr>
          <a:xfrm>
            <a:off x="457200" y="2130552"/>
            <a:ext cx="8229600" cy="256032"/>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Deadlock Prevention via Sorted Lock Acquisition</a:t>
            </a:r>
            <a:endParaRPr lang="en-US" sz="1100" dirty="0"/>
          </a:p>
        </p:txBody>
      </p:sp>
      <p:sp>
        <p:nvSpPr>
          <p:cNvPr id="14" name="Text 12"/>
          <p:cNvSpPr/>
          <p:nvPr/>
        </p:nvSpPr>
        <p:spPr>
          <a:xfrm>
            <a:off x="457200" y="2414016"/>
            <a:ext cx="8229600" cy="4572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 deadlock requires Thread A holding lock on row 341 waiting for 342, and Thread B holding 342 waiting for 341. Sorting TCAF IDs ascending before the first acquisition makes this cycle structurally unreachable. All threads acquire in the same global order (341 → 342 → 343 → ...). No two threads can ever be waiting on each other's held lock.</a:t>
            </a:r>
            <a:endParaRPr lang="en-US" sz="950" dirty="0"/>
          </a:p>
        </p:txBody>
      </p:sp>
      <p:sp>
        <p:nvSpPr>
          <p:cNvPr id="15" name="Shape 13"/>
          <p:cNvSpPr/>
          <p:nvPr/>
        </p:nvSpPr>
        <p:spPr>
          <a:xfrm>
            <a:off x="256032" y="3017520"/>
            <a:ext cx="8631936" cy="82296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6" name="Shape 14"/>
          <p:cNvSpPr/>
          <p:nvPr/>
        </p:nvSpPr>
        <p:spPr>
          <a:xfrm>
            <a:off x="256032" y="3017520"/>
            <a:ext cx="64008" cy="822960"/>
          </a:xfrm>
          <a:prstGeom prst="rect">
            <a:avLst/>
          </a:prstGeom>
          <a:solidFill>
            <a:srgbClr val="16A34A"/>
          </a:solidFill>
          <a:ln w="12700">
            <a:solidFill>
              <a:srgbClr val="16A34A"/>
            </a:solidFill>
            <a:prstDash val="solid"/>
          </a:ln>
        </p:spPr>
      </p:sp>
      <p:sp>
        <p:nvSpPr>
          <p:cNvPr id="17" name="Text 15"/>
          <p:cNvSpPr/>
          <p:nvPr/>
        </p:nvSpPr>
        <p:spPr>
          <a:xfrm>
            <a:off x="457200" y="3081528"/>
            <a:ext cx="8229600" cy="256032"/>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Atomicity via @Transactional (Spring / Hibernate)</a:t>
            </a:r>
            <a:endParaRPr lang="en-US" sz="1100" dirty="0"/>
          </a:p>
        </p:txBody>
      </p:sp>
      <p:sp>
        <p:nvSpPr>
          <p:cNvPr id="18" name="Text 16"/>
          <p:cNvSpPr/>
          <p:nvPr/>
        </p:nvSpPr>
        <p:spPr>
          <a:xfrm>
            <a:off x="457200" y="3364992"/>
            <a:ext cx="8229600" cy="4572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The @Transactional boundary on allocateSlot() creates a single commit boundary. For a 5-course slot: all 5 tca_booked increments and all 5 SRC inserts commit or roll back together. A failure on iteration 4 rolls back iterations 1–3 as well. Partial registrations are structurally impossible.</a:t>
            </a:r>
            <a:endParaRPr lang="en-US" sz="950" dirty="0"/>
          </a:p>
        </p:txBody>
      </p:sp>
      <p:sp>
        <p:nvSpPr>
          <p:cNvPr id="19" name="Shape 17"/>
          <p:cNvSpPr/>
          <p:nvPr/>
        </p:nvSpPr>
        <p:spPr>
          <a:xfrm>
            <a:off x="256032" y="3968496"/>
            <a:ext cx="8631936" cy="82296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0" name="Shape 18"/>
          <p:cNvSpPr/>
          <p:nvPr/>
        </p:nvSpPr>
        <p:spPr>
          <a:xfrm>
            <a:off x="256032" y="3968496"/>
            <a:ext cx="64008" cy="822960"/>
          </a:xfrm>
          <a:prstGeom prst="rect">
            <a:avLst/>
          </a:prstGeom>
          <a:solidFill>
            <a:srgbClr val="2E6DB4"/>
          </a:solidFill>
          <a:ln w="12700">
            <a:solidFill>
              <a:srgbClr val="2E6DB4"/>
            </a:solidFill>
            <a:prstDash val="solid"/>
          </a:ln>
        </p:spPr>
      </p:sp>
      <p:sp>
        <p:nvSpPr>
          <p:cNvPr id="21" name="Text 19"/>
          <p:cNvSpPr/>
          <p:nvPr/>
        </p:nvSpPr>
        <p:spPr>
          <a:xfrm>
            <a:off x="457200" y="4032504"/>
            <a:ext cx="8229600" cy="256032"/>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Two-Phase Locking (2PL) Compliance</a:t>
            </a:r>
            <a:endParaRPr lang="en-US" sz="1100" dirty="0"/>
          </a:p>
        </p:txBody>
      </p:sp>
      <p:sp>
        <p:nvSpPr>
          <p:cNvPr id="22" name="Text 20"/>
          <p:cNvSpPr/>
          <p:nvPr/>
        </p:nvSpPr>
        <p:spPr>
          <a:xfrm>
            <a:off x="457200" y="4315968"/>
            <a:ext cx="8229600" cy="4572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Phase 0 &amp; 1 form the Growing Phase — only lock acquisitions, no writes. Phase 2 commit forms the Shrinking Phase — all locks released simultaneously at transaction end. This schedule is provably conflict-serializable (Eswaran et al., 1976), providing the theoretical foundation for correctness.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Implementation Details &amp; Critical Bug Fix</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Tech stack, key engineering choices, and the Hibernate L1 cache pitfall</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Text 5"/>
          <p:cNvSpPr/>
          <p:nvPr/>
        </p:nvSpPr>
        <p:spPr>
          <a:xfrm>
            <a:off x="256032" y="1097280"/>
            <a:ext cx="4023360" cy="256032"/>
          </a:xfrm>
          <a:prstGeom prst="rect">
            <a:avLst/>
          </a:prstGeom>
          <a:noFill/>
          <a:ln/>
        </p:spPr>
        <p:txBody>
          <a:bodyPr wrap="square" lIns="0" tIns="0" rIns="0" bIns="0" rtlCol="0" anchor="ctr"/>
          <a:lstStyle/>
          <a:p>
            <a:pPr marL="0" indent="0">
              <a:buNone/>
            </a:pPr>
            <a:r>
              <a:rPr lang="en-US" sz="1000" b="1" dirty="0">
                <a:solidFill>
                  <a:srgbClr val="1E4D8C"/>
                </a:solidFill>
                <a:latin typeface="Calibri" pitchFamily="34" charset="0"/>
                <a:ea typeface="Calibri" pitchFamily="34" charset="-122"/>
                <a:cs typeface="Calibri" pitchFamily="34" charset="-120"/>
              </a:rPr>
              <a:t>TECHNOLOGY STACK</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1389888"/>
          <a:ext cx="4023360" cy="2423160"/>
        </p:xfrm>
        <a:graphic>
          <a:graphicData uri="http://schemas.openxmlformats.org/drawingml/2006/table">
            <a:tbl>
              <a:tblPr/>
              <a:tblGrid>
                <a:gridCol w="1645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02895">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Component</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solidFill>
                      <a:srgbClr val="1E4D8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Technology</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solidFill>
                      <a:srgbClr val="1E4D8C"/>
                    </a:solidFill>
                  </a:tcPr>
                </a:tc>
                <a:extLst>
                  <a:ext uri="{0D108BD9-81ED-4DB2-BD59-A6C34878D82A}">
                    <a16:rowId xmlns:a16="http://schemas.microsoft.com/office/drawing/2014/main" val="10000"/>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Language</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Java 21</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1"/>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Framework</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Spring Boot 3.5</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2"/>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ORM</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Hibernate 6 / Spring Data JPA</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3"/>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Database</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PostgreSQL · ec2 schema</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4"/>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Connection Pool</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HikariCP (max 20 connections)</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5"/>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Template Engine</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Thymeleaf</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6"/>
                  </a:ext>
                </a:extLst>
              </a:tr>
              <a:tr h="302895">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Build Tool</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Maven</a:t>
                      </a:r>
                      <a:endParaRPr lang="en-US" sz="95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6"/>
          <p:cNvSpPr/>
          <p:nvPr/>
        </p:nvSpPr>
        <p:spPr>
          <a:xfrm>
            <a:off x="4572000" y="1097280"/>
            <a:ext cx="4297680" cy="256032"/>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CRITICAL BUG: HIBERNATE SESSION CACHE</a:t>
            </a:r>
            <a:endParaRPr lang="en-US" sz="1000" dirty="0"/>
          </a:p>
        </p:txBody>
      </p:sp>
      <p:sp>
        <p:nvSpPr>
          <p:cNvPr id="8" name="Shape 7"/>
          <p:cNvSpPr/>
          <p:nvPr/>
        </p:nvSpPr>
        <p:spPr>
          <a:xfrm>
            <a:off x="4572000" y="1389888"/>
            <a:ext cx="4297680" cy="1207008"/>
          </a:xfrm>
          <a:prstGeom prst="rect">
            <a:avLst/>
          </a:prstGeom>
          <a:solidFill>
            <a:srgbClr val="FFF5F5"/>
          </a:solidFill>
          <a:ln w="12700">
            <a:solidFill>
              <a:srgbClr val="DC2626"/>
            </a:solidFill>
            <a:prstDash val="solid"/>
          </a:ln>
        </p:spPr>
      </p:sp>
      <p:sp>
        <p:nvSpPr>
          <p:cNvPr id="11" name="Text 8"/>
          <p:cNvSpPr/>
          <p:nvPr/>
        </p:nvSpPr>
        <p:spPr>
          <a:xfrm>
            <a:off x="4709160" y="1444752"/>
            <a:ext cx="402336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Root Cause</a:t>
            </a:r>
            <a:endParaRPr lang="en-US" sz="1000" dirty="0"/>
          </a:p>
        </p:txBody>
      </p:sp>
      <p:sp>
        <p:nvSpPr>
          <p:cNvPr id="12" name="Text 9"/>
          <p:cNvSpPr/>
          <p:nvPr/>
        </p:nvSpPr>
        <p:spPr>
          <a:xfrm>
            <a:off x="4709160" y="1709928"/>
            <a:ext cx="4023360" cy="84124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Phase 0 originally called findTcafBySlot(slotId) — loading full TCAF entities. Hibernate stored these in the session-level identity map. When Phase 1 issued findTcafByIdWithLock(tcaId) for the same PKs, Hibernate returned cached instances without contacting PostgreSQL at all. The SELECT FOR UPDATE was never executed. Seat checks ran against stale data → overbooking reproduced.</a:t>
            </a:r>
            <a:endParaRPr lang="en-US" sz="900" dirty="0"/>
          </a:p>
        </p:txBody>
      </p:sp>
      <p:sp>
        <p:nvSpPr>
          <p:cNvPr id="13" name="Shape 10"/>
          <p:cNvSpPr/>
          <p:nvPr/>
        </p:nvSpPr>
        <p:spPr>
          <a:xfrm>
            <a:off x="4572000" y="2651760"/>
            <a:ext cx="4297680" cy="914400"/>
          </a:xfrm>
          <a:prstGeom prst="rect">
            <a:avLst/>
          </a:prstGeom>
          <a:solidFill>
            <a:srgbClr val="F0FFF4"/>
          </a:solidFill>
          <a:ln w="12700">
            <a:solidFill>
              <a:srgbClr val="16A34A"/>
            </a:solidFill>
            <a:prstDash val="solid"/>
          </a:ln>
        </p:spPr>
      </p:sp>
      <p:sp>
        <p:nvSpPr>
          <p:cNvPr id="14" name="Text 11"/>
          <p:cNvSpPr/>
          <p:nvPr/>
        </p:nvSpPr>
        <p:spPr>
          <a:xfrm>
            <a:off x="4709160" y="2715768"/>
            <a:ext cx="4023360" cy="228600"/>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Fix</a:t>
            </a:r>
            <a:endParaRPr lang="en-US" sz="1000" dirty="0"/>
          </a:p>
        </p:txBody>
      </p:sp>
      <p:sp>
        <p:nvSpPr>
          <p:cNvPr id="15" name="Text 12"/>
          <p:cNvSpPr/>
          <p:nvPr/>
        </p:nvSpPr>
        <p:spPr>
          <a:xfrm>
            <a:off x="4709160" y="2944368"/>
            <a:ext cx="4023360" cy="56692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Refactored Phase 0 to call findTcaIdsBySlot(slotId), projecting ONLY a List&lt;Long&gt;. With no entity in the session cache, each findTcafByIdWithLock call in Phase 1 performs a genuine PostgreSQL round-trip. The SELECT FOR UPDATE reaches the database as intended. This single query change was the difference between reproducible overbooking and zero anomalies across 100 concurrent threads.</a:t>
            </a:r>
            <a:endParaRPr lang="en-US" sz="900" dirty="0"/>
          </a:p>
        </p:txBody>
      </p:sp>
      <p:sp>
        <p:nvSpPr>
          <p:cNvPr id="16" name="Text 13"/>
          <p:cNvSpPr/>
          <p:nvPr/>
        </p:nvSpPr>
        <p:spPr>
          <a:xfrm>
            <a:off x="256032" y="3886200"/>
            <a:ext cx="8631936" cy="228600"/>
          </a:xfrm>
          <a:prstGeom prst="rect">
            <a:avLst/>
          </a:prstGeom>
          <a:noFill/>
          <a:ln/>
        </p:spPr>
        <p:txBody>
          <a:bodyPr wrap="square" lIns="0" tIns="0" rIns="0" bIns="0" rtlCol="0" anchor="ctr"/>
          <a:lstStyle/>
          <a:p>
            <a:pPr marL="0" indent="0">
              <a:buNone/>
            </a:pPr>
            <a:r>
              <a:rPr lang="en-US" sz="1000" b="1" dirty="0">
                <a:solidFill>
                  <a:srgbClr val="1E4D8C"/>
                </a:solidFill>
                <a:latin typeface="Calibri" pitchFamily="34" charset="0"/>
                <a:ea typeface="Calibri" pitchFamily="34" charset="-122"/>
                <a:cs typeface="Calibri" pitchFamily="34" charset="-120"/>
              </a:rPr>
              <a:t>OTHER KEY DECISIONS</a:t>
            </a:r>
            <a:endParaRPr lang="en-US" sz="1000" dirty="0"/>
          </a:p>
        </p:txBody>
      </p:sp>
      <p:sp>
        <p:nvSpPr>
          <p:cNvPr id="17" name="Shape 14"/>
          <p:cNvSpPr/>
          <p:nvPr/>
        </p:nvSpPr>
        <p:spPr>
          <a:xfrm>
            <a:off x="256032" y="4160520"/>
            <a:ext cx="2743200" cy="685800"/>
          </a:xfrm>
          <a:prstGeom prst="rect">
            <a:avLst/>
          </a:prstGeom>
          <a:solidFill>
            <a:srgbClr val="D6E4F7"/>
          </a:solidFill>
          <a:ln w="12700">
            <a:solidFill>
              <a:srgbClr val="2E6DB4"/>
            </a:solidFill>
            <a:prstDash val="solid"/>
          </a:ln>
        </p:spPr>
      </p:sp>
      <p:sp>
        <p:nvSpPr>
          <p:cNvPr id="18" name="Text 15"/>
          <p:cNvSpPr/>
          <p:nvPr/>
        </p:nvSpPr>
        <p:spPr>
          <a:xfrm>
            <a:off x="347472" y="4206240"/>
            <a:ext cx="2560320" cy="228600"/>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ddl-auto=validate</a:t>
            </a:r>
            <a:endParaRPr lang="en-US" sz="950" dirty="0"/>
          </a:p>
        </p:txBody>
      </p:sp>
      <p:sp>
        <p:nvSpPr>
          <p:cNvPr id="19" name="Text 16"/>
          <p:cNvSpPr/>
          <p:nvPr/>
        </p:nvSpPr>
        <p:spPr>
          <a:xfrm>
            <a:off x="347472" y="4453128"/>
            <a:ext cx="2560320" cy="36576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Refuses to start on schema mismatch — protected shared tables from silent corruption during iterative dev.</a:t>
            </a:r>
            <a:endParaRPr lang="en-US" sz="850" dirty="0"/>
          </a:p>
        </p:txBody>
      </p:sp>
      <p:sp>
        <p:nvSpPr>
          <p:cNvPr id="20" name="Shape 17"/>
          <p:cNvSpPr/>
          <p:nvPr/>
        </p:nvSpPr>
        <p:spPr>
          <a:xfrm>
            <a:off x="3200400" y="4160520"/>
            <a:ext cx="2743200" cy="685800"/>
          </a:xfrm>
          <a:prstGeom prst="rect">
            <a:avLst/>
          </a:prstGeom>
          <a:solidFill>
            <a:srgbClr val="D6E4F7"/>
          </a:solidFill>
          <a:ln w="12700">
            <a:solidFill>
              <a:srgbClr val="2E6DB4"/>
            </a:solidFill>
            <a:prstDash val="solid"/>
          </a:ln>
        </p:spPr>
      </p:sp>
      <p:sp>
        <p:nvSpPr>
          <p:cNvPr id="21" name="Text 18"/>
          <p:cNvSpPr/>
          <p:nvPr/>
        </p:nvSpPr>
        <p:spPr>
          <a:xfrm>
            <a:off x="3291840" y="4206240"/>
            <a:ext cx="2560320" cy="228600"/>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termid=78 hardcoded</a:t>
            </a:r>
            <a:endParaRPr lang="en-US" sz="950" dirty="0"/>
          </a:p>
        </p:txBody>
      </p:sp>
      <p:sp>
        <p:nvSpPr>
          <p:cNvPr id="22" name="Text 19"/>
          <p:cNvSpPr/>
          <p:nvPr/>
        </p:nvSpPr>
        <p:spPr>
          <a:xfrm>
            <a:off x="3291840" y="4453128"/>
            <a:ext cx="2560320" cy="36576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Scopes all queries to the active academic term — prevents stale-term allocations.</a:t>
            </a:r>
            <a:endParaRPr lang="en-US" sz="850" dirty="0"/>
          </a:p>
        </p:txBody>
      </p:sp>
      <p:sp>
        <p:nvSpPr>
          <p:cNvPr id="23" name="Shape 20"/>
          <p:cNvSpPr/>
          <p:nvPr/>
        </p:nvSpPr>
        <p:spPr>
          <a:xfrm>
            <a:off x="6144768" y="4160520"/>
            <a:ext cx="2743200" cy="685800"/>
          </a:xfrm>
          <a:prstGeom prst="rect">
            <a:avLst/>
          </a:prstGeom>
          <a:solidFill>
            <a:srgbClr val="D6E4F7"/>
          </a:solidFill>
          <a:ln w="12700">
            <a:solidFill>
              <a:srgbClr val="2E6DB4"/>
            </a:solidFill>
            <a:prstDash val="solid"/>
          </a:ln>
        </p:spPr>
      </p:sp>
      <p:sp>
        <p:nvSpPr>
          <p:cNvPr id="24" name="Text 21"/>
          <p:cNvSpPr/>
          <p:nvPr/>
        </p:nvSpPr>
        <p:spPr>
          <a:xfrm>
            <a:off x="6236208" y="4206240"/>
            <a:ext cx="2560320" cy="228600"/>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HikariCP max 20</a:t>
            </a:r>
            <a:endParaRPr lang="en-US" sz="950" dirty="0"/>
          </a:p>
        </p:txBody>
      </p:sp>
      <p:sp>
        <p:nvSpPr>
          <p:cNvPr id="25" name="Text 22"/>
          <p:cNvSpPr/>
          <p:nvPr/>
        </p:nvSpPr>
        <p:spPr>
          <a:xfrm>
            <a:off x="6236208" y="4453128"/>
            <a:ext cx="2560320" cy="36576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Caps the connection pool; beyond this, threads queue for connections before even reaching row-lock queue.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Experimental Results &amp; Testing</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Functional validation + 100-thread stress test with zero overbooking</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Shape 5"/>
          <p:cNvSpPr/>
          <p:nvPr/>
        </p:nvSpPr>
        <p:spPr>
          <a:xfrm>
            <a:off x="256032" y="1115568"/>
            <a:ext cx="2011680" cy="114300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8" name="Shape 6"/>
          <p:cNvSpPr/>
          <p:nvPr/>
        </p:nvSpPr>
        <p:spPr>
          <a:xfrm>
            <a:off x="256032" y="1115568"/>
            <a:ext cx="2011680" cy="109728"/>
          </a:xfrm>
          <a:prstGeom prst="rect">
            <a:avLst/>
          </a:prstGeom>
          <a:solidFill>
            <a:srgbClr val="1E4D8C"/>
          </a:solidFill>
          <a:ln w="12700">
            <a:solidFill>
              <a:srgbClr val="1E4D8C"/>
            </a:solidFill>
            <a:prstDash val="solid"/>
          </a:ln>
        </p:spPr>
      </p:sp>
      <p:sp>
        <p:nvSpPr>
          <p:cNvPr id="9" name="Text 7"/>
          <p:cNvSpPr/>
          <p:nvPr/>
        </p:nvSpPr>
        <p:spPr>
          <a:xfrm>
            <a:off x="256032" y="1225296"/>
            <a:ext cx="2011680" cy="530352"/>
          </a:xfrm>
          <a:prstGeom prst="rect">
            <a:avLst/>
          </a:prstGeom>
          <a:noFill/>
          <a:ln/>
        </p:spPr>
        <p:txBody>
          <a:bodyPr wrap="square" lIns="0" tIns="0" rIns="0" bIns="0" rtlCol="0" anchor="ctr"/>
          <a:lstStyle/>
          <a:p>
            <a:pPr marL="0" indent="0" algn="ctr">
              <a:buNone/>
            </a:pPr>
            <a:r>
              <a:rPr lang="en-US" sz="4000" b="1" dirty="0">
                <a:solidFill>
                  <a:srgbClr val="1E4D8C"/>
                </a:solidFill>
                <a:latin typeface="Cambria" pitchFamily="34" charset="0"/>
                <a:ea typeface="Cambria" pitchFamily="34" charset="-122"/>
                <a:cs typeface="Cambria" pitchFamily="34" charset="-120"/>
              </a:rPr>
              <a:t>100</a:t>
            </a:r>
            <a:endParaRPr lang="en-US" sz="4000" dirty="0"/>
          </a:p>
        </p:txBody>
      </p:sp>
      <p:sp>
        <p:nvSpPr>
          <p:cNvPr id="10" name="Text 8"/>
          <p:cNvSpPr/>
          <p:nvPr/>
        </p:nvSpPr>
        <p:spPr>
          <a:xfrm>
            <a:off x="256032" y="1773936"/>
            <a:ext cx="2011680" cy="201168"/>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Concurrent Threads</a:t>
            </a:r>
            <a:endParaRPr lang="en-US" sz="900" dirty="0"/>
          </a:p>
        </p:txBody>
      </p:sp>
      <p:sp>
        <p:nvSpPr>
          <p:cNvPr id="11" name="Text 9"/>
          <p:cNvSpPr/>
          <p:nvPr/>
        </p:nvSpPr>
        <p:spPr>
          <a:xfrm>
            <a:off x="292608" y="1984248"/>
            <a:ext cx="1938528" cy="228600"/>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Released simultaneously via CountDownLatch</a:t>
            </a:r>
            <a:endParaRPr lang="en-US" sz="750" dirty="0"/>
          </a:p>
        </p:txBody>
      </p:sp>
      <p:sp>
        <p:nvSpPr>
          <p:cNvPr id="12" name="Shape 10"/>
          <p:cNvSpPr/>
          <p:nvPr/>
        </p:nvSpPr>
        <p:spPr>
          <a:xfrm>
            <a:off x="2450592" y="1115568"/>
            <a:ext cx="2011680" cy="114300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3" name="Shape 11"/>
          <p:cNvSpPr/>
          <p:nvPr/>
        </p:nvSpPr>
        <p:spPr>
          <a:xfrm>
            <a:off x="2450592" y="1115568"/>
            <a:ext cx="2011680" cy="109728"/>
          </a:xfrm>
          <a:prstGeom prst="rect">
            <a:avLst/>
          </a:prstGeom>
          <a:solidFill>
            <a:srgbClr val="16A34A"/>
          </a:solidFill>
          <a:ln w="12700">
            <a:solidFill>
              <a:srgbClr val="16A34A"/>
            </a:solidFill>
            <a:prstDash val="solid"/>
          </a:ln>
        </p:spPr>
      </p:sp>
      <p:sp>
        <p:nvSpPr>
          <p:cNvPr id="14" name="Text 12"/>
          <p:cNvSpPr/>
          <p:nvPr/>
        </p:nvSpPr>
        <p:spPr>
          <a:xfrm>
            <a:off x="2450592" y="1225296"/>
            <a:ext cx="2011680" cy="530352"/>
          </a:xfrm>
          <a:prstGeom prst="rect">
            <a:avLst/>
          </a:prstGeom>
          <a:noFill/>
          <a:ln/>
        </p:spPr>
        <p:txBody>
          <a:bodyPr wrap="square" lIns="0" tIns="0" rIns="0" bIns="0" rtlCol="0" anchor="ctr"/>
          <a:lstStyle/>
          <a:p>
            <a:pPr marL="0" indent="0" algn="ctr">
              <a:buNone/>
            </a:pPr>
            <a:r>
              <a:rPr lang="en-US" sz="4000" b="1" dirty="0">
                <a:solidFill>
                  <a:srgbClr val="16A34A"/>
                </a:solidFill>
                <a:latin typeface="Cambria" pitchFamily="34" charset="0"/>
                <a:ea typeface="Cambria" pitchFamily="34" charset="-122"/>
                <a:cs typeface="Cambria" pitchFamily="34" charset="-120"/>
              </a:rPr>
              <a:t>20</a:t>
            </a:r>
            <a:endParaRPr lang="en-US" sz="4000" dirty="0"/>
          </a:p>
        </p:txBody>
      </p:sp>
      <p:sp>
        <p:nvSpPr>
          <p:cNvPr id="15" name="Text 13"/>
          <p:cNvSpPr/>
          <p:nvPr/>
        </p:nvSpPr>
        <p:spPr>
          <a:xfrm>
            <a:off x="2450592" y="1773936"/>
            <a:ext cx="2011680" cy="201168"/>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Successful Allocations</a:t>
            </a:r>
            <a:endParaRPr lang="en-US" sz="900" dirty="0"/>
          </a:p>
        </p:txBody>
      </p:sp>
      <p:sp>
        <p:nvSpPr>
          <p:cNvPr id="16" name="Text 14"/>
          <p:cNvSpPr/>
          <p:nvPr/>
        </p:nvSpPr>
        <p:spPr>
          <a:xfrm>
            <a:off x="2487168" y="1984248"/>
            <a:ext cx="1938528" cy="228600"/>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Exactly equal to configured seat count</a:t>
            </a:r>
            <a:endParaRPr lang="en-US" sz="750" dirty="0"/>
          </a:p>
        </p:txBody>
      </p:sp>
      <p:sp>
        <p:nvSpPr>
          <p:cNvPr id="17" name="Shape 15"/>
          <p:cNvSpPr/>
          <p:nvPr/>
        </p:nvSpPr>
        <p:spPr>
          <a:xfrm>
            <a:off x="4645152" y="1115568"/>
            <a:ext cx="2011680" cy="114300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8" name="Shape 16"/>
          <p:cNvSpPr/>
          <p:nvPr/>
        </p:nvSpPr>
        <p:spPr>
          <a:xfrm>
            <a:off x="4645152" y="1115568"/>
            <a:ext cx="2011680" cy="109728"/>
          </a:xfrm>
          <a:prstGeom prst="rect">
            <a:avLst/>
          </a:prstGeom>
          <a:solidFill>
            <a:srgbClr val="DC2626"/>
          </a:solidFill>
          <a:ln w="12700">
            <a:solidFill>
              <a:srgbClr val="DC2626"/>
            </a:solidFill>
            <a:prstDash val="solid"/>
          </a:ln>
        </p:spPr>
      </p:sp>
      <p:sp>
        <p:nvSpPr>
          <p:cNvPr id="19" name="Text 17"/>
          <p:cNvSpPr/>
          <p:nvPr/>
        </p:nvSpPr>
        <p:spPr>
          <a:xfrm>
            <a:off x="4645152" y="1225296"/>
            <a:ext cx="2011680" cy="530352"/>
          </a:xfrm>
          <a:prstGeom prst="rect">
            <a:avLst/>
          </a:prstGeom>
          <a:noFill/>
          <a:ln/>
        </p:spPr>
        <p:txBody>
          <a:bodyPr wrap="square" lIns="0" tIns="0" rIns="0" bIns="0" rtlCol="0" anchor="ctr"/>
          <a:lstStyle/>
          <a:p>
            <a:pPr marL="0" indent="0" algn="ctr">
              <a:buNone/>
            </a:pPr>
            <a:r>
              <a:rPr lang="en-US" sz="4000" b="1" dirty="0">
                <a:solidFill>
                  <a:srgbClr val="DC2626"/>
                </a:solidFill>
                <a:latin typeface="Cambria" pitchFamily="34" charset="0"/>
                <a:ea typeface="Cambria" pitchFamily="34" charset="-122"/>
                <a:cs typeface="Cambria" pitchFamily="34" charset="-120"/>
              </a:rPr>
              <a:t>80</a:t>
            </a:r>
            <a:endParaRPr lang="en-US" sz="4000" dirty="0"/>
          </a:p>
        </p:txBody>
      </p:sp>
      <p:sp>
        <p:nvSpPr>
          <p:cNvPr id="20" name="Text 18"/>
          <p:cNvSpPr/>
          <p:nvPr/>
        </p:nvSpPr>
        <p:spPr>
          <a:xfrm>
            <a:off x="4645152" y="1773936"/>
            <a:ext cx="2011680" cy="201168"/>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Failed (Slot Full)</a:t>
            </a:r>
            <a:endParaRPr lang="en-US" sz="900" dirty="0"/>
          </a:p>
        </p:txBody>
      </p:sp>
      <p:sp>
        <p:nvSpPr>
          <p:cNvPr id="21" name="Text 19"/>
          <p:cNvSpPr/>
          <p:nvPr/>
        </p:nvSpPr>
        <p:spPr>
          <a:xfrm>
            <a:off x="4681728" y="1984248"/>
            <a:ext cx="1938528" cy="228600"/>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Blocked → lock acquired → seats=0 → RuntimeException</a:t>
            </a:r>
            <a:endParaRPr lang="en-US" sz="750" dirty="0"/>
          </a:p>
        </p:txBody>
      </p:sp>
      <p:sp>
        <p:nvSpPr>
          <p:cNvPr id="22" name="Shape 20"/>
          <p:cNvSpPr/>
          <p:nvPr/>
        </p:nvSpPr>
        <p:spPr>
          <a:xfrm>
            <a:off x="6839712" y="1115568"/>
            <a:ext cx="2011680" cy="1143000"/>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3" name="Shape 21"/>
          <p:cNvSpPr/>
          <p:nvPr/>
        </p:nvSpPr>
        <p:spPr>
          <a:xfrm>
            <a:off x="6839712" y="1115568"/>
            <a:ext cx="2011680" cy="109728"/>
          </a:xfrm>
          <a:prstGeom prst="rect">
            <a:avLst/>
          </a:prstGeom>
          <a:solidFill>
            <a:srgbClr val="F59E0B"/>
          </a:solidFill>
          <a:ln w="12700">
            <a:solidFill>
              <a:srgbClr val="F59E0B"/>
            </a:solidFill>
            <a:prstDash val="solid"/>
          </a:ln>
        </p:spPr>
      </p:sp>
      <p:sp>
        <p:nvSpPr>
          <p:cNvPr id="24" name="Text 22"/>
          <p:cNvSpPr/>
          <p:nvPr/>
        </p:nvSpPr>
        <p:spPr>
          <a:xfrm>
            <a:off x="6839712" y="1225296"/>
            <a:ext cx="2011680" cy="530352"/>
          </a:xfrm>
          <a:prstGeom prst="rect">
            <a:avLst/>
          </a:prstGeom>
          <a:noFill/>
          <a:ln/>
        </p:spPr>
        <p:txBody>
          <a:bodyPr wrap="square" lIns="0" tIns="0" rIns="0" bIns="0" rtlCol="0" anchor="ctr"/>
          <a:lstStyle/>
          <a:p>
            <a:pPr marL="0" indent="0" algn="ctr">
              <a:buNone/>
            </a:pPr>
            <a:r>
              <a:rPr lang="en-US" sz="4000" b="1" dirty="0">
                <a:solidFill>
                  <a:srgbClr val="F59E0B"/>
                </a:solidFill>
                <a:latin typeface="Cambria" pitchFamily="34" charset="0"/>
                <a:ea typeface="Cambria" pitchFamily="34" charset="-122"/>
                <a:cs typeface="Cambria" pitchFamily="34" charset="-120"/>
              </a:rPr>
              <a:t>0</a:t>
            </a:r>
            <a:endParaRPr lang="en-US" sz="4000" dirty="0"/>
          </a:p>
        </p:txBody>
      </p:sp>
      <p:sp>
        <p:nvSpPr>
          <p:cNvPr id="25" name="Text 23"/>
          <p:cNvSpPr/>
          <p:nvPr/>
        </p:nvSpPr>
        <p:spPr>
          <a:xfrm>
            <a:off x="6839712" y="1773936"/>
            <a:ext cx="2011680" cy="201168"/>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Overbooking Events</a:t>
            </a:r>
            <a:endParaRPr lang="en-US" sz="900" dirty="0"/>
          </a:p>
        </p:txBody>
      </p:sp>
      <p:sp>
        <p:nvSpPr>
          <p:cNvPr id="26" name="Text 24"/>
          <p:cNvSpPr/>
          <p:nvPr/>
        </p:nvSpPr>
        <p:spPr>
          <a:xfrm>
            <a:off x="6876288" y="1984248"/>
            <a:ext cx="1938528" cy="228600"/>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Verified by direct DB query post-run</a:t>
            </a:r>
            <a:endParaRPr lang="en-US" sz="750" dirty="0"/>
          </a:p>
        </p:txBody>
      </p:sp>
      <p:sp>
        <p:nvSpPr>
          <p:cNvPr id="27" name="Text 25"/>
          <p:cNvSpPr/>
          <p:nvPr/>
        </p:nvSpPr>
        <p:spPr>
          <a:xfrm>
            <a:off x="256032" y="2395728"/>
            <a:ext cx="8631936" cy="256032"/>
          </a:xfrm>
          <a:prstGeom prst="rect">
            <a:avLst/>
          </a:prstGeom>
          <a:noFill/>
          <a:ln/>
        </p:spPr>
        <p:txBody>
          <a:bodyPr wrap="square" lIns="0" tIns="0" rIns="0" bIns="0" rtlCol="0" anchor="ctr"/>
          <a:lstStyle/>
          <a:p>
            <a:pPr marL="0" indent="0">
              <a:buNone/>
            </a:pPr>
            <a:r>
              <a:rPr lang="en-US" sz="1000" b="1" dirty="0">
                <a:solidFill>
                  <a:srgbClr val="1E4D8C"/>
                </a:solidFill>
                <a:latin typeface="Calibri" pitchFamily="34" charset="0"/>
                <a:ea typeface="Calibri" pitchFamily="34" charset="-122"/>
                <a:cs typeface="Calibri" pitchFamily="34" charset="-120"/>
              </a:rPr>
              <a:t>FUNCTIONAL TEST RESULTS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256032" y="2679192"/>
          <a:ext cx="8631936" cy="2011680"/>
        </p:xfrm>
        <a:graphic>
          <a:graphicData uri="http://schemas.openxmlformats.org/drawingml/2006/table">
            <a:tbl>
              <a:tblPr/>
              <a:tblGrid>
                <a:gridCol w="1737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408176">
                  <a:extLst>
                    <a:ext uri="{9D8B030D-6E8A-4147-A177-3AD203B41FA5}">
                      <a16:colId xmlns:a16="http://schemas.microsoft.com/office/drawing/2014/main" val="20003"/>
                    </a:ext>
                  </a:extLst>
                </a:gridCol>
              </a:tblGrid>
              <a:tr h="33528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Test Case</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Condition</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Expected Output</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3528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Valid Allocation</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seats &gt; 0, valid student &amp; slot IDs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Allocation Successful</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Invalid Slot</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Slot does not exist in termcourseavailablefor</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SlotNotFoundException</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2"/>
                  </a:ext>
                </a:extLst>
              </a:tr>
              <a:tr h="33528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Student Not Found</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Unregistered student ID submitted</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RuntimeException</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3"/>
                  </a:ext>
                </a:extLst>
              </a:tr>
              <a:tr h="33528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Already Enrolled</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Existing records found in SRC table</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AlreadyEnrolledException</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4"/>
                  </a:ext>
                </a:extLst>
              </a:tr>
              <a:tr h="33528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Slot Fully Booked</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tca_booked ≥ tca_seats for any course</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RuntimeException (Slot Full)</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lnL w="12700" cap="flat" cmpd="sng" algn="ctr">
                      <a:solidFill>
                        <a:srgbClr val="E5EBF5"/>
                      </a:solidFill>
                      <a:prstDash val="solid"/>
                      <a:round/>
                      <a:headEnd type="none" w="med" len="med"/>
                      <a:tailEnd type="none" w="med" len="med"/>
                    </a:lnL>
                    <a:lnR w="12700" cap="flat" cmpd="sng" algn="ctr">
                      <a:solidFill>
                        <a:srgbClr val="E5EBF5"/>
                      </a:solidFill>
                      <a:prstDash val="solid"/>
                      <a:round/>
                      <a:headEnd type="none" w="med" len="med"/>
                      <a:tailEnd type="none" w="med" len="med"/>
                    </a:lnR>
                    <a:lnT w="12700" cap="flat" cmpd="sng" algn="ctr">
                      <a:solidFill>
                        <a:srgbClr val="E5EBF5"/>
                      </a:solidFill>
                      <a:prstDash val="solid"/>
                      <a:round/>
                      <a:headEnd type="none" w="med" len="med"/>
                      <a:tailEnd type="none" w="med" len="med"/>
                    </a:lnT>
                    <a:lnB w="12700" cap="flat" cmpd="sng" algn="ctr">
                      <a:solidFill>
                        <a:srgbClr val="E5EBF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w="12700">
            <a:solidFill>
              <a:srgbClr val="1B2A4A"/>
            </a:solidFill>
            <a:prstDash val="solid"/>
          </a:ln>
        </p:spPr>
      </p:sp>
      <p:sp>
        <p:nvSpPr>
          <p:cNvPr id="3" name="Shape 1"/>
          <p:cNvSpPr/>
          <p:nvPr/>
        </p:nvSpPr>
        <p:spPr>
          <a:xfrm>
            <a:off x="0" y="0"/>
            <a:ext cx="9144000" cy="1005840"/>
          </a:xfrm>
          <a:prstGeom prst="rect">
            <a:avLst/>
          </a:prstGeom>
          <a:solidFill>
            <a:srgbClr val="1B2A4A"/>
          </a:solidFill>
          <a:ln w="12700">
            <a:solidFill>
              <a:srgbClr val="1B2A4A"/>
            </a:solidFill>
            <a:prstDash val="solid"/>
          </a:ln>
        </p:spPr>
      </p:sp>
      <p:sp>
        <p:nvSpPr>
          <p:cNvPr id="4" name="Text 2"/>
          <p:cNvSpPr/>
          <p:nvPr/>
        </p:nvSpPr>
        <p:spPr>
          <a:xfrm>
            <a:off x="320040" y="109728"/>
            <a:ext cx="850392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Limitations &amp; Future Scope</a:t>
            </a:r>
            <a:endParaRPr lang="en-US" sz="24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200" dirty="0">
                <a:solidFill>
                  <a:srgbClr val="D6E4F7"/>
                </a:solidFill>
                <a:latin typeface="Calibri" pitchFamily="34" charset="0"/>
                <a:ea typeface="Calibri" pitchFamily="34" charset="-122"/>
                <a:cs typeface="Calibri" pitchFamily="34" charset="-120"/>
              </a:rPr>
              <a:t>Honest constraints and clear paths to production-grade scale</a:t>
            </a:r>
            <a:endParaRPr lang="en-US" sz="1200" dirty="0"/>
          </a:p>
        </p:txBody>
      </p:sp>
      <p:sp>
        <p:nvSpPr>
          <p:cNvPr id="6" name="Shape 4"/>
          <p:cNvSpPr/>
          <p:nvPr/>
        </p:nvSpPr>
        <p:spPr>
          <a:xfrm>
            <a:off x="8686800" y="4846320"/>
            <a:ext cx="457200" cy="292608"/>
          </a:xfrm>
          <a:prstGeom prst="rect">
            <a:avLst/>
          </a:prstGeom>
          <a:solidFill>
            <a:srgbClr val="2E6DB4"/>
          </a:solidFill>
          <a:ln w="12700">
            <a:solidFill>
              <a:srgbClr val="2E6DB4"/>
            </a:solidFill>
            <a:prstDash val="solid"/>
          </a:ln>
        </p:spPr>
      </p:sp>
      <p:sp>
        <p:nvSpPr>
          <p:cNvPr id="7" name="Text 5"/>
          <p:cNvSpPr/>
          <p:nvPr/>
        </p:nvSpPr>
        <p:spPr>
          <a:xfrm>
            <a:off x="256032" y="1115568"/>
            <a:ext cx="4114800" cy="256032"/>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CURRENT LIMITATIONS</a:t>
            </a:r>
            <a:endParaRPr lang="en-US" sz="1000" dirty="0"/>
          </a:p>
        </p:txBody>
      </p:sp>
      <p:sp>
        <p:nvSpPr>
          <p:cNvPr id="8" name="Shape 6"/>
          <p:cNvSpPr/>
          <p:nvPr/>
        </p:nvSpPr>
        <p:spPr>
          <a:xfrm>
            <a:off x="256032" y="1444752"/>
            <a:ext cx="4114800" cy="98755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9" name="Shape 7"/>
          <p:cNvSpPr/>
          <p:nvPr/>
        </p:nvSpPr>
        <p:spPr>
          <a:xfrm>
            <a:off x="256032" y="1444752"/>
            <a:ext cx="64008" cy="987552"/>
          </a:xfrm>
          <a:prstGeom prst="rect">
            <a:avLst/>
          </a:prstGeom>
          <a:solidFill>
            <a:srgbClr val="DC2626"/>
          </a:solidFill>
          <a:ln w="12700">
            <a:solidFill>
              <a:srgbClr val="DC2626"/>
            </a:solidFill>
            <a:prstDash val="solid"/>
          </a:ln>
        </p:spPr>
      </p:sp>
      <p:sp>
        <p:nvSpPr>
          <p:cNvPr id="10" name="Text 8"/>
          <p:cNvSpPr/>
          <p:nvPr/>
        </p:nvSpPr>
        <p:spPr>
          <a:xfrm>
            <a:off x="457200" y="1508760"/>
            <a:ext cx="374904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Arrival Order ≠ Lock Order</a:t>
            </a:r>
            <a:endParaRPr lang="en-US" sz="1000" dirty="0"/>
          </a:p>
        </p:txBody>
      </p:sp>
      <p:sp>
        <p:nvSpPr>
          <p:cNvPr id="11" name="Text 9"/>
          <p:cNvSpPr/>
          <p:nvPr/>
        </p:nvSpPr>
        <p:spPr>
          <a:xfrm>
            <a:off x="457200" y="1783080"/>
            <a:ext cx="3749040" cy="62179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The system serializes by lock-acquisition timestamp, not by HTTP request arrival. Network latency and thread-pool scheduling can cause a later-arriving request to acquire a lock before an earlier one. True FCFS would require timestamping at the network ingress and enforcing explicit queue discipline before any DB access.</a:t>
            </a:r>
            <a:endParaRPr lang="en-US" sz="900" dirty="0"/>
          </a:p>
        </p:txBody>
      </p:sp>
      <p:sp>
        <p:nvSpPr>
          <p:cNvPr id="12" name="Shape 10"/>
          <p:cNvSpPr/>
          <p:nvPr/>
        </p:nvSpPr>
        <p:spPr>
          <a:xfrm>
            <a:off x="256032" y="2560320"/>
            <a:ext cx="4114800" cy="98755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3" name="Shape 11"/>
          <p:cNvSpPr/>
          <p:nvPr/>
        </p:nvSpPr>
        <p:spPr>
          <a:xfrm>
            <a:off x="256032" y="2560320"/>
            <a:ext cx="64008" cy="987552"/>
          </a:xfrm>
          <a:prstGeom prst="rect">
            <a:avLst/>
          </a:prstGeom>
          <a:solidFill>
            <a:srgbClr val="DC2626"/>
          </a:solidFill>
          <a:ln w="12700">
            <a:solidFill>
              <a:srgbClr val="DC2626"/>
            </a:solidFill>
            <a:prstDash val="solid"/>
          </a:ln>
        </p:spPr>
      </p:sp>
      <p:sp>
        <p:nvSpPr>
          <p:cNvPr id="14" name="Text 12"/>
          <p:cNvSpPr/>
          <p:nvPr/>
        </p:nvSpPr>
        <p:spPr>
          <a:xfrm>
            <a:off x="457200" y="2624328"/>
            <a:ext cx="374904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Connection Pool Bottleneck</a:t>
            </a:r>
            <a:endParaRPr lang="en-US" sz="1000" dirty="0"/>
          </a:p>
        </p:txBody>
      </p:sp>
      <p:sp>
        <p:nvSpPr>
          <p:cNvPr id="15" name="Text 13"/>
          <p:cNvSpPr/>
          <p:nvPr/>
        </p:nvSpPr>
        <p:spPr>
          <a:xfrm>
            <a:off x="457200" y="2898648"/>
            <a:ext cx="3749040" cy="62179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HikariCP capped at 20 connections. Threads 21–100 must wait for a connection before even joining the lock queue. This produced intermittent 'Connection is not available, request timed out' errors during high-thread tests at default settings.</a:t>
            </a:r>
            <a:endParaRPr lang="en-US" sz="900" dirty="0"/>
          </a:p>
        </p:txBody>
      </p:sp>
      <p:sp>
        <p:nvSpPr>
          <p:cNvPr id="16" name="Shape 14"/>
          <p:cNvSpPr/>
          <p:nvPr/>
        </p:nvSpPr>
        <p:spPr>
          <a:xfrm>
            <a:off x="256032" y="3675888"/>
            <a:ext cx="4114800" cy="987552"/>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17" name="Shape 15"/>
          <p:cNvSpPr/>
          <p:nvPr/>
        </p:nvSpPr>
        <p:spPr>
          <a:xfrm>
            <a:off x="256032" y="3675888"/>
            <a:ext cx="64008" cy="987552"/>
          </a:xfrm>
          <a:prstGeom prst="rect">
            <a:avLst/>
          </a:prstGeom>
          <a:solidFill>
            <a:srgbClr val="DC2626"/>
          </a:solidFill>
          <a:ln w="12700">
            <a:solidFill>
              <a:srgbClr val="DC2626"/>
            </a:solidFill>
            <a:prstDash val="solid"/>
          </a:ln>
        </p:spPr>
      </p:sp>
      <p:sp>
        <p:nvSpPr>
          <p:cNvPr id="18" name="Text 16"/>
          <p:cNvSpPr/>
          <p:nvPr/>
        </p:nvSpPr>
        <p:spPr>
          <a:xfrm>
            <a:off x="457200" y="3739896"/>
            <a:ext cx="3749040" cy="256032"/>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Single Relational Node</a:t>
            </a:r>
            <a:endParaRPr lang="en-US" sz="1000" dirty="0"/>
          </a:p>
        </p:txBody>
      </p:sp>
      <p:sp>
        <p:nvSpPr>
          <p:cNvPr id="19" name="Text 17"/>
          <p:cNvSpPr/>
          <p:nvPr/>
        </p:nvSpPr>
        <p:spPr>
          <a:xfrm>
            <a:off x="457200" y="4014216"/>
            <a:ext cx="3749040" cy="62179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Pessimistic row-level locking assumes a single PostgreSQL lock manager. Database sharding or read-replica routing would fragment the lock namespace and silently break mutual exclusion.</a:t>
            </a:r>
            <a:endParaRPr lang="en-US" sz="900" dirty="0"/>
          </a:p>
        </p:txBody>
      </p:sp>
      <p:sp>
        <p:nvSpPr>
          <p:cNvPr id="20" name="Text 18"/>
          <p:cNvSpPr/>
          <p:nvPr/>
        </p:nvSpPr>
        <p:spPr>
          <a:xfrm>
            <a:off x="4663440" y="1115568"/>
            <a:ext cx="420624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FUTURE SCOPE</a:t>
            </a:r>
            <a:endParaRPr lang="en-US" sz="1000" dirty="0"/>
          </a:p>
        </p:txBody>
      </p:sp>
      <p:sp>
        <p:nvSpPr>
          <p:cNvPr id="21" name="Shape 19"/>
          <p:cNvSpPr/>
          <p:nvPr/>
        </p:nvSpPr>
        <p:spPr>
          <a:xfrm>
            <a:off x="4663440" y="1444752"/>
            <a:ext cx="4224528" cy="768096"/>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2" name="Shape 20"/>
          <p:cNvSpPr/>
          <p:nvPr/>
        </p:nvSpPr>
        <p:spPr>
          <a:xfrm>
            <a:off x="4663440" y="1444752"/>
            <a:ext cx="64008" cy="768096"/>
          </a:xfrm>
          <a:prstGeom prst="rect">
            <a:avLst/>
          </a:prstGeom>
          <a:solidFill>
            <a:srgbClr val="16A34A"/>
          </a:solidFill>
          <a:ln w="12700">
            <a:solidFill>
              <a:srgbClr val="16A34A"/>
            </a:solidFill>
            <a:prstDash val="solid"/>
          </a:ln>
        </p:spPr>
      </p:sp>
      <p:sp>
        <p:nvSpPr>
          <p:cNvPr id="23" name="Text 21"/>
          <p:cNvSpPr/>
          <p:nvPr/>
        </p:nvSpPr>
        <p:spPr>
          <a:xfrm>
            <a:off x="4846320" y="1508760"/>
            <a:ext cx="3886200" cy="22860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Connection Pool Tuning</a:t>
            </a:r>
            <a:endParaRPr lang="en-US" sz="1000" dirty="0"/>
          </a:p>
        </p:txBody>
      </p:sp>
      <p:sp>
        <p:nvSpPr>
          <p:cNvPr id="24" name="Text 22"/>
          <p:cNvSpPr/>
          <p:nvPr/>
        </p:nvSpPr>
        <p:spPr>
          <a:xfrm>
            <a:off x="4846320" y="1755648"/>
            <a:ext cx="3886200"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Raise HikariCP max-pool-size to ≥50 for real DAU registration events where concurrent user counts could be an order of magnitude higher.</a:t>
            </a:r>
            <a:endParaRPr lang="en-US" sz="900" dirty="0"/>
          </a:p>
        </p:txBody>
      </p:sp>
      <p:sp>
        <p:nvSpPr>
          <p:cNvPr id="25" name="Shape 23"/>
          <p:cNvSpPr/>
          <p:nvPr/>
        </p:nvSpPr>
        <p:spPr>
          <a:xfrm>
            <a:off x="4663440" y="2340864"/>
            <a:ext cx="4224528" cy="768096"/>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26" name="Shape 24"/>
          <p:cNvSpPr/>
          <p:nvPr/>
        </p:nvSpPr>
        <p:spPr>
          <a:xfrm>
            <a:off x="4663440" y="2340864"/>
            <a:ext cx="64008" cy="768096"/>
          </a:xfrm>
          <a:prstGeom prst="rect">
            <a:avLst/>
          </a:prstGeom>
          <a:solidFill>
            <a:srgbClr val="16A34A"/>
          </a:solidFill>
          <a:ln w="12700">
            <a:solidFill>
              <a:srgbClr val="16A34A"/>
            </a:solidFill>
            <a:prstDash val="solid"/>
          </a:ln>
        </p:spPr>
      </p:sp>
      <p:sp>
        <p:nvSpPr>
          <p:cNvPr id="27" name="Text 25"/>
          <p:cNvSpPr/>
          <p:nvPr/>
        </p:nvSpPr>
        <p:spPr>
          <a:xfrm>
            <a:off x="4846320" y="2404872"/>
            <a:ext cx="3886200" cy="22860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Redis Lua + Async Persistence</a:t>
            </a:r>
            <a:endParaRPr lang="en-US" sz="1000" dirty="0"/>
          </a:p>
        </p:txBody>
      </p:sp>
      <p:sp>
        <p:nvSpPr>
          <p:cNvPr id="28" name="Text 26"/>
          <p:cNvSpPr/>
          <p:nvPr/>
        </p:nvSpPr>
        <p:spPr>
          <a:xfrm>
            <a:off x="4846320" y="2651760"/>
            <a:ext cx="3886200"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Move seat-decrement to a Redis Lua script (atomic on Redis server, no relational lock held) and persist via Kafka/RabbitMQ — higher throughput on the hot path.</a:t>
            </a:r>
            <a:endParaRPr lang="en-US" sz="900" dirty="0"/>
          </a:p>
        </p:txBody>
      </p:sp>
      <p:sp>
        <p:nvSpPr>
          <p:cNvPr id="29" name="Shape 27"/>
          <p:cNvSpPr/>
          <p:nvPr/>
        </p:nvSpPr>
        <p:spPr>
          <a:xfrm>
            <a:off x="4663440" y="3236976"/>
            <a:ext cx="4224528" cy="768096"/>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30" name="Shape 28"/>
          <p:cNvSpPr/>
          <p:nvPr/>
        </p:nvSpPr>
        <p:spPr>
          <a:xfrm>
            <a:off x="4663440" y="3236976"/>
            <a:ext cx="64008" cy="768096"/>
          </a:xfrm>
          <a:prstGeom prst="rect">
            <a:avLst/>
          </a:prstGeom>
          <a:solidFill>
            <a:srgbClr val="16A34A"/>
          </a:solidFill>
          <a:ln w="12700">
            <a:solidFill>
              <a:srgbClr val="16A34A"/>
            </a:solidFill>
            <a:prstDash val="solid"/>
          </a:ln>
        </p:spPr>
      </p:sp>
      <p:sp>
        <p:nvSpPr>
          <p:cNvPr id="31" name="Text 29"/>
          <p:cNvSpPr/>
          <p:nvPr/>
        </p:nvSpPr>
        <p:spPr>
          <a:xfrm>
            <a:off x="4846320" y="3300984"/>
            <a:ext cx="3886200" cy="22860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Predicate Locking</a:t>
            </a:r>
            <a:endParaRPr lang="en-US" sz="1000" dirty="0"/>
          </a:p>
        </p:txBody>
      </p:sp>
      <p:sp>
        <p:nvSpPr>
          <p:cNvPr id="32" name="Text 30"/>
          <p:cNvSpPr/>
          <p:nvPr/>
        </p:nvSpPr>
        <p:spPr>
          <a:xfrm>
            <a:off x="4846320" y="3547872"/>
            <a:ext cx="3886200"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Current implementation locks a pre-enumerated TCAF set. A newly inserted row escapes the lock set entirely — the phantom-read scenario. Predicate locking or SERIALIZABLE isolation would close this gap.</a:t>
            </a:r>
            <a:endParaRPr lang="en-US" sz="900" dirty="0"/>
          </a:p>
        </p:txBody>
      </p:sp>
      <p:sp>
        <p:nvSpPr>
          <p:cNvPr id="33" name="Shape 31"/>
          <p:cNvSpPr/>
          <p:nvPr/>
        </p:nvSpPr>
        <p:spPr>
          <a:xfrm>
            <a:off x="4663440" y="4133088"/>
            <a:ext cx="4224528" cy="768096"/>
          </a:xfrm>
          <a:prstGeom prst="rect">
            <a:avLst/>
          </a:prstGeom>
          <a:solidFill>
            <a:srgbClr val="FFFFFF"/>
          </a:solidFill>
          <a:ln w="12700">
            <a:solidFill>
              <a:srgbClr val="E5EBF5"/>
            </a:solidFill>
            <a:prstDash val="solid"/>
          </a:ln>
          <a:effectLst>
            <a:outerShdw blurRad="63500" dist="25400" dir="8100000" algn="bl" rotWithShape="0">
              <a:srgbClr val="000000">
                <a:alpha val="8000"/>
              </a:srgbClr>
            </a:outerShdw>
          </a:effectLst>
        </p:spPr>
      </p:sp>
      <p:sp>
        <p:nvSpPr>
          <p:cNvPr id="34" name="Shape 32"/>
          <p:cNvSpPr/>
          <p:nvPr/>
        </p:nvSpPr>
        <p:spPr>
          <a:xfrm>
            <a:off x="4663440" y="4133088"/>
            <a:ext cx="64008" cy="768096"/>
          </a:xfrm>
          <a:prstGeom prst="rect">
            <a:avLst/>
          </a:prstGeom>
          <a:solidFill>
            <a:srgbClr val="16A34A"/>
          </a:solidFill>
          <a:ln w="12700">
            <a:solidFill>
              <a:srgbClr val="16A34A"/>
            </a:solidFill>
            <a:prstDash val="solid"/>
          </a:ln>
        </p:spPr>
      </p:sp>
      <p:sp>
        <p:nvSpPr>
          <p:cNvPr id="35" name="Text 33"/>
          <p:cNvSpPr/>
          <p:nvPr/>
        </p:nvSpPr>
        <p:spPr>
          <a:xfrm>
            <a:off x="4846320" y="4197096"/>
            <a:ext cx="3886200" cy="22860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Distributed Lock Coordination</a:t>
            </a:r>
            <a:endParaRPr lang="en-US" sz="1000" dirty="0"/>
          </a:p>
        </p:txBody>
      </p:sp>
      <p:sp>
        <p:nvSpPr>
          <p:cNvPr id="36" name="Text 34"/>
          <p:cNvSpPr/>
          <p:nvPr/>
        </p:nvSpPr>
        <p:spPr>
          <a:xfrm>
            <a:off x="4846320" y="4443984"/>
            <a:ext cx="3886200"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Multi-node DB deployments require Redlock (Redis) or ZooKeeper ephemeral znodes to replace row-level locking across shards.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Shape 1"/>
          <p:cNvSpPr/>
          <p:nvPr/>
        </p:nvSpPr>
        <p:spPr>
          <a:xfrm>
            <a:off x="0" y="5070348"/>
            <a:ext cx="9144000" cy="73152"/>
          </a:xfrm>
          <a:prstGeom prst="rect">
            <a:avLst/>
          </a:prstGeom>
          <a:solidFill>
            <a:srgbClr val="F59E0B"/>
          </a:solidFill>
          <a:ln w="12700">
            <a:solidFill>
              <a:srgbClr val="F59E0B"/>
            </a:solidFill>
            <a:prstDash val="solid"/>
          </a:ln>
        </p:spPr>
      </p:sp>
      <p:sp>
        <p:nvSpPr>
          <p:cNvPr id="4" name="Text 2"/>
          <p:cNvSpPr/>
          <p:nvPr/>
        </p:nvSpPr>
        <p:spPr>
          <a:xfrm>
            <a:off x="457200" y="274320"/>
            <a:ext cx="82296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3"/>
          <p:cNvSpPr/>
          <p:nvPr/>
        </p:nvSpPr>
        <p:spPr>
          <a:xfrm>
            <a:off x="457200" y="804672"/>
            <a:ext cx="3200400" cy="36576"/>
          </a:xfrm>
          <a:prstGeom prst="rect">
            <a:avLst/>
          </a:prstGeom>
          <a:solidFill>
            <a:srgbClr val="F59E0B"/>
          </a:solidFill>
          <a:ln w="12700">
            <a:solidFill>
              <a:srgbClr val="F59E0B"/>
            </a:solidFill>
            <a:prstDash val="solid"/>
          </a:ln>
        </p:spPr>
      </p:sp>
      <p:sp>
        <p:nvSpPr>
          <p:cNvPr id="6" name="Text 4"/>
          <p:cNvSpPr/>
          <p:nvPr/>
        </p:nvSpPr>
        <p:spPr>
          <a:xfrm>
            <a:off x="457200" y="914400"/>
            <a:ext cx="8229600" cy="548640"/>
          </a:xfrm>
          <a:prstGeom prst="rect">
            <a:avLst/>
          </a:prstGeom>
          <a:noFill/>
          <a:ln/>
        </p:spPr>
        <p:txBody>
          <a:bodyPr wrap="square" lIns="0" tIns="0" rIns="0" bIns="0" rtlCol="0" anchor="ctr"/>
          <a:lstStyle/>
          <a:p>
            <a:pPr marL="0" indent="0">
              <a:buNone/>
            </a:pPr>
            <a:r>
              <a:rPr lang="en-US" sz="1500" i="1" dirty="0">
                <a:solidFill>
                  <a:srgbClr val="D6E4F7"/>
                </a:solidFill>
                <a:latin typeface="Cambria" pitchFamily="34" charset="0"/>
                <a:ea typeface="Cambria" pitchFamily="34" charset="-122"/>
                <a:cs typeface="Cambria" pitchFamily="34" charset="-120"/>
              </a:rPr>
              <a:t>Can a standard Spring Boot + PostgreSQL stack prevent overbooking and guarantee approximate FCFS fairness during a realistic elective-registration burst?</a:t>
            </a:r>
            <a:endParaRPr lang="en-US" sz="1500" dirty="0"/>
          </a:p>
        </p:txBody>
      </p:sp>
      <p:sp>
        <p:nvSpPr>
          <p:cNvPr id="8" name="Shape 6"/>
          <p:cNvSpPr/>
          <p:nvPr/>
        </p:nvSpPr>
        <p:spPr>
          <a:xfrm>
            <a:off x="457200" y="1733841"/>
            <a:ext cx="8229600" cy="512064"/>
          </a:xfrm>
          <a:prstGeom prst="rect">
            <a:avLst/>
          </a:prstGeom>
          <a:solidFill>
            <a:srgbClr val="1E4D8C"/>
          </a:solidFill>
          <a:ln w="12700">
            <a:solidFill>
              <a:srgbClr val="2E6DB4"/>
            </a:solidFill>
            <a:prstDash val="solid"/>
          </a:ln>
        </p:spPr>
      </p:sp>
      <p:sp>
        <p:nvSpPr>
          <p:cNvPr id="9" name="Shape 7"/>
          <p:cNvSpPr/>
          <p:nvPr/>
        </p:nvSpPr>
        <p:spPr>
          <a:xfrm>
            <a:off x="457200" y="1733841"/>
            <a:ext cx="64008" cy="512064"/>
          </a:xfrm>
          <a:prstGeom prst="rect">
            <a:avLst/>
          </a:prstGeom>
          <a:solidFill>
            <a:srgbClr val="F59E0B"/>
          </a:solidFill>
          <a:ln w="12700">
            <a:solidFill>
              <a:srgbClr val="F59E0B"/>
            </a:solidFill>
            <a:prstDash val="solid"/>
          </a:ln>
        </p:spPr>
      </p:sp>
      <p:sp>
        <p:nvSpPr>
          <p:cNvPr id="10" name="Text 8"/>
          <p:cNvSpPr/>
          <p:nvPr/>
        </p:nvSpPr>
        <p:spPr>
          <a:xfrm>
            <a:off x="621792" y="1752129"/>
            <a:ext cx="1737360" cy="475488"/>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Three-Phase Algorithm: </a:t>
            </a:r>
            <a:endParaRPr lang="en-US" sz="950" dirty="0"/>
          </a:p>
        </p:txBody>
      </p:sp>
      <p:sp>
        <p:nvSpPr>
          <p:cNvPr id="11" name="Text 9"/>
          <p:cNvSpPr/>
          <p:nvPr/>
        </p:nvSpPr>
        <p:spPr>
          <a:xfrm>
            <a:off x="2331720" y="1752129"/>
            <a:ext cx="6217920" cy="475488"/>
          </a:xfrm>
          <a:prstGeom prst="rect">
            <a:avLst/>
          </a:prstGeom>
          <a:noFill/>
          <a:ln/>
        </p:spPr>
        <p:txBody>
          <a:bodyPr wrap="square" lIns="0" tIns="0" rIns="0" bIns="0" rtlCol="0" anchor="ctr"/>
          <a:lstStyle/>
          <a:p>
            <a:pPr marL="0" indent="0">
              <a:buNone/>
            </a:pPr>
            <a:r>
              <a:rPr lang="en-US" sz="900" dirty="0">
                <a:solidFill>
                  <a:srgbClr val="D6E4F7"/>
                </a:solidFill>
                <a:latin typeface="Calibri" pitchFamily="34" charset="0"/>
                <a:ea typeface="Calibri" pitchFamily="34" charset="-122"/>
                <a:cs typeface="Calibri" pitchFamily="34" charset="-120"/>
              </a:rPr>
              <a:t>No write occurs until every lock is held — this single structural rule closes the lost-update window that permits overbooking in naive implementations.</a:t>
            </a:r>
            <a:endParaRPr lang="en-US" sz="900" dirty="0"/>
          </a:p>
        </p:txBody>
      </p:sp>
      <p:sp>
        <p:nvSpPr>
          <p:cNvPr id="12" name="Shape 10"/>
          <p:cNvSpPr/>
          <p:nvPr/>
        </p:nvSpPr>
        <p:spPr>
          <a:xfrm>
            <a:off x="457200" y="2319057"/>
            <a:ext cx="8229600" cy="512064"/>
          </a:xfrm>
          <a:prstGeom prst="rect">
            <a:avLst/>
          </a:prstGeom>
          <a:solidFill>
            <a:srgbClr val="1E4D8C"/>
          </a:solidFill>
          <a:ln w="12700">
            <a:solidFill>
              <a:srgbClr val="2E6DB4"/>
            </a:solidFill>
            <a:prstDash val="solid"/>
          </a:ln>
        </p:spPr>
      </p:sp>
      <p:sp>
        <p:nvSpPr>
          <p:cNvPr id="13" name="Shape 11"/>
          <p:cNvSpPr/>
          <p:nvPr/>
        </p:nvSpPr>
        <p:spPr>
          <a:xfrm>
            <a:off x="457200" y="2319057"/>
            <a:ext cx="64008" cy="512064"/>
          </a:xfrm>
          <a:prstGeom prst="rect">
            <a:avLst/>
          </a:prstGeom>
          <a:solidFill>
            <a:srgbClr val="F59E0B"/>
          </a:solidFill>
          <a:ln w="12700">
            <a:solidFill>
              <a:srgbClr val="F59E0B"/>
            </a:solidFill>
            <a:prstDash val="solid"/>
          </a:ln>
        </p:spPr>
      </p:sp>
      <p:sp>
        <p:nvSpPr>
          <p:cNvPr id="14" name="Text 12"/>
          <p:cNvSpPr/>
          <p:nvPr/>
        </p:nvSpPr>
        <p:spPr>
          <a:xfrm>
            <a:off x="621792" y="2337345"/>
            <a:ext cx="1737360" cy="475488"/>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Sorted Acquisition: </a:t>
            </a:r>
            <a:endParaRPr lang="en-US" sz="950" dirty="0"/>
          </a:p>
        </p:txBody>
      </p:sp>
      <p:sp>
        <p:nvSpPr>
          <p:cNvPr id="15" name="Text 13"/>
          <p:cNvSpPr/>
          <p:nvPr/>
        </p:nvSpPr>
        <p:spPr>
          <a:xfrm>
            <a:off x="2331720" y="2337345"/>
            <a:ext cx="6217920" cy="475488"/>
          </a:xfrm>
          <a:prstGeom prst="rect">
            <a:avLst/>
          </a:prstGeom>
          <a:noFill/>
          <a:ln/>
        </p:spPr>
        <p:txBody>
          <a:bodyPr wrap="square" lIns="0" tIns="0" rIns="0" bIns="0" rtlCol="0" anchor="ctr"/>
          <a:lstStyle/>
          <a:p>
            <a:pPr marL="0" indent="0">
              <a:buNone/>
            </a:pPr>
            <a:r>
              <a:rPr lang="en-US" sz="900" dirty="0">
                <a:solidFill>
                  <a:srgbClr val="D6E4F7"/>
                </a:solidFill>
                <a:latin typeface="Calibri" pitchFamily="34" charset="0"/>
                <a:ea typeface="Calibri" pitchFamily="34" charset="-122"/>
                <a:cs typeface="Calibri" pitchFamily="34" charset="-120"/>
              </a:rPr>
              <a:t>Ascending TCAF ID ordering eliminates deadlock without runtime overhead.</a:t>
            </a:r>
            <a:endParaRPr lang="en-US" sz="900" dirty="0"/>
          </a:p>
        </p:txBody>
      </p:sp>
      <p:sp>
        <p:nvSpPr>
          <p:cNvPr id="16" name="Shape 14"/>
          <p:cNvSpPr/>
          <p:nvPr/>
        </p:nvSpPr>
        <p:spPr>
          <a:xfrm>
            <a:off x="457200" y="2904273"/>
            <a:ext cx="8229600" cy="512064"/>
          </a:xfrm>
          <a:prstGeom prst="rect">
            <a:avLst/>
          </a:prstGeom>
          <a:solidFill>
            <a:srgbClr val="1E4D8C"/>
          </a:solidFill>
          <a:ln w="12700">
            <a:solidFill>
              <a:srgbClr val="2E6DB4"/>
            </a:solidFill>
            <a:prstDash val="solid"/>
          </a:ln>
        </p:spPr>
      </p:sp>
      <p:sp>
        <p:nvSpPr>
          <p:cNvPr id="17" name="Shape 15"/>
          <p:cNvSpPr/>
          <p:nvPr/>
        </p:nvSpPr>
        <p:spPr>
          <a:xfrm>
            <a:off x="457200" y="2904273"/>
            <a:ext cx="64008" cy="512064"/>
          </a:xfrm>
          <a:prstGeom prst="rect">
            <a:avLst/>
          </a:prstGeom>
          <a:solidFill>
            <a:srgbClr val="F59E0B"/>
          </a:solidFill>
          <a:ln w="12700">
            <a:solidFill>
              <a:srgbClr val="F59E0B"/>
            </a:solidFill>
            <a:prstDash val="solid"/>
          </a:ln>
        </p:spPr>
      </p:sp>
      <p:sp>
        <p:nvSpPr>
          <p:cNvPr id="18" name="Text 16"/>
          <p:cNvSpPr/>
          <p:nvPr/>
        </p:nvSpPr>
        <p:spPr>
          <a:xfrm>
            <a:off x="621792" y="2922561"/>
            <a:ext cx="1737360" cy="475488"/>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@Transactional Atomicity: </a:t>
            </a:r>
            <a:endParaRPr lang="en-US" sz="950" dirty="0"/>
          </a:p>
        </p:txBody>
      </p:sp>
      <p:sp>
        <p:nvSpPr>
          <p:cNvPr id="19" name="Text 17"/>
          <p:cNvSpPr/>
          <p:nvPr/>
        </p:nvSpPr>
        <p:spPr>
          <a:xfrm>
            <a:off x="2331720" y="2922561"/>
            <a:ext cx="6217920" cy="475488"/>
          </a:xfrm>
          <a:prstGeom prst="rect">
            <a:avLst/>
          </a:prstGeom>
          <a:noFill/>
          <a:ln/>
        </p:spPr>
        <p:txBody>
          <a:bodyPr wrap="square" lIns="0" tIns="0" rIns="0" bIns="0" rtlCol="0" anchor="ctr"/>
          <a:lstStyle/>
          <a:p>
            <a:pPr marL="0" indent="0">
              <a:buNone/>
            </a:pPr>
            <a:r>
              <a:rPr lang="en-US" sz="900" dirty="0">
                <a:solidFill>
                  <a:srgbClr val="D6E4F7"/>
                </a:solidFill>
                <a:latin typeface="Calibri" pitchFamily="34" charset="0"/>
                <a:ea typeface="Calibri" pitchFamily="34" charset="-122"/>
                <a:cs typeface="Calibri" pitchFamily="34" charset="-120"/>
              </a:rPr>
              <a:t>A mid-transaction failure cannot leave a student partially enrolled — all or nothing.</a:t>
            </a:r>
            <a:endParaRPr lang="en-US" sz="900" dirty="0"/>
          </a:p>
        </p:txBody>
      </p:sp>
      <p:sp>
        <p:nvSpPr>
          <p:cNvPr id="20" name="Shape 18"/>
          <p:cNvSpPr/>
          <p:nvPr/>
        </p:nvSpPr>
        <p:spPr>
          <a:xfrm>
            <a:off x="457200" y="3489489"/>
            <a:ext cx="8229600" cy="512064"/>
          </a:xfrm>
          <a:prstGeom prst="rect">
            <a:avLst/>
          </a:prstGeom>
          <a:solidFill>
            <a:srgbClr val="1E4D8C"/>
          </a:solidFill>
          <a:ln w="12700">
            <a:solidFill>
              <a:srgbClr val="2E6DB4"/>
            </a:solidFill>
            <a:prstDash val="solid"/>
          </a:ln>
        </p:spPr>
      </p:sp>
      <p:sp>
        <p:nvSpPr>
          <p:cNvPr id="21" name="Shape 19"/>
          <p:cNvSpPr/>
          <p:nvPr/>
        </p:nvSpPr>
        <p:spPr>
          <a:xfrm>
            <a:off x="457200" y="3489489"/>
            <a:ext cx="64008" cy="512064"/>
          </a:xfrm>
          <a:prstGeom prst="rect">
            <a:avLst/>
          </a:prstGeom>
          <a:solidFill>
            <a:srgbClr val="F59E0B"/>
          </a:solidFill>
          <a:ln w="12700">
            <a:solidFill>
              <a:srgbClr val="F59E0B"/>
            </a:solidFill>
            <a:prstDash val="solid"/>
          </a:ln>
        </p:spPr>
      </p:sp>
      <p:sp>
        <p:nvSpPr>
          <p:cNvPr id="22" name="Text 20"/>
          <p:cNvSpPr/>
          <p:nvPr/>
        </p:nvSpPr>
        <p:spPr>
          <a:xfrm>
            <a:off x="621792" y="3507777"/>
            <a:ext cx="1737360" cy="475488"/>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The Hibernate Bug Lesson: </a:t>
            </a:r>
            <a:endParaRPr lang="en-US" sz="950" dirty="0"/>
          </a:p>
        </p:txBody>
      </p:sp>
      <p:sp>
        <p:nvSpPr>
          <p:cNvPr id="23" name="Text 21"/>
          <p:cNvSpPr/>
          <p:nvPr/>
        </p:nvSpPr>
        <p:spPr>
          <a:xfrm>
            <a:off x="2331720" y="3507777"/>
            <a:ext cx="6217920" cy="475488"/>
          </a:xfrm>
          <a:prstGeom prst="rect">
            <a:avLst/>
          </a:prstGeom>
          <a:noFill/>
          <a:ln/>
        </p:spPr>
        <p:txBody>
          <a:bodyPr wrap="square" lIns="0" tIns="0" rIns="0" bIns="0" rtlCol="0" anchor="ctr"/>
          <a:lstStyle/>
          <a:p>
            <a:pPr marL="0" indent="0">
              <a:buNone/>
            </a:pPr>
            <a:r>
              <a:rPr lang="en-US" sz="900" dirty="0">
                <a:solidFill>
                  <a:srgbClr val="D6E4F7"/>
                </a:solidFill>
                <a:latin typeface="Calibri" pitchFamily="34" charset="0"/>
                <a:ea typeface="Calibri" pitchFamily="34" charset="-122"/>
                <a:cs typeface="Calibri" pitchFamily="34" charset="-120"/>
              </a:rPr>
              <a:t>The session-cache pitfall showed that DB-level guarantees are only as strong as the application's willingness to actually reach the database. Switching from entity loading to PK projection was the change that made 100 threads yield exactly 20 allocations with zero anomalies.</a:t>
            </a:r>
            <a:endParaRPr lang="en-US" sz="900" dirty="0"/>
          </a:p>
        </p:txBody>
      </p:sp>
      <p:sp>
        <p:nvSpPr>
          <p:cNvPr id="24" name="Shape 22"/>
          <p:cNvSpPr/>
          <p:nvPr/>
        </p:nvSpPr>
        <p:spPr>
          <a:xfrm>
            <a:off x="457200" y="4074705"/>
            <a:ext cx="8229600" cy="512064"/>
          </a:xfrm>
          <a:prstGeom prst="rect">
            <a:avLst/>
          </a:prstGeom>
          <a:solidFill>
            <a:srgbClr val="1E4D8C"/>
          </a:solidFill>
          <a:ln w="12700">
            <a:solidFill>
              <a:srgbClr val="2E6DB4"/>
            </a:solidFill>
            <a:prstDash val="solid"/>
          </a:ln>
        </p:spPr>
      </p:sp>
      <p:sp>
        <p:nvSpPr>
          <p:cNvPr id="25" name="Shape 23"/>
          <p:cNvSpPr/>
          <p:nvPr/>
        </p:nvSpPr>
        <p:spPr>
          <a:xfrm>
            <a:off x="457200" y="4074705"/>
            <a:ext cx="64008" cy="512064"/>
          </a:xfrm>
          <a:prstGeom prst="rect">
            <a:avLst/>
          </a:prstGeom>
          <a:solidFill>
            <a:srgbClr val="F59E0B"/>
          </a:solidFill>
          <a:ln w="12700">
            <a:solidFill>
              <a:srgbClr val="F59E0B"/>
            </a:solidFill>
            <a:prstDash val="solid"/>
          </a:ln>
        </p:spPr>
      </p:sp>
      <p:sp>
        <p:nvSpPr>
          <p:cNvPr id="26" name="Text 24"/>
          <p:cNvSpPr/>
          <p:nvPr/>
        </p:nvSpPr>
        <p:spPr>
          <a:xfrm>
            <a:off x="621792" y="4092993"/>
            <a:ext cx="1737360" cy="475488"/>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Empirical Proof: </a:t>
            </a:r>
            <a:endParaRPr lang="en-US" sz="950" dirty="0"/>
          </a:p>
        </p:txBody>
      </p:sp>
      <p:sp>
        <p:nvSpPr>
          <p:cNvPr id="27" name="Text 25"/>
          <p:cNvSpPr/>
          <p:nvPr/>
        </p:nvSpPr>
        <p:spPr>
          <a:xfrm>
            <a:off x="2331720" y="4092993"/>
            <a:ext cx="6217920" cy="475488"/>
          </a:xfrm>
          <a:prstGeom prst="rect">
            <a:avLst/>
          </a:prstGeom>
          <a:noFill/>
          <a:ln/>
        </p:spPr>
        <p:txBody>
          <a:bodyPr wrap="square" lIns="0" tIns="0" rIns="0" bIns="0" rtlCol="0" anchor="ctr"/>
          <a:lstStyle/>
          <a:p>
            <a:pPr marL="0" indent="0">
              <a:buNone/>
            </a:pPr>
            <a:r>
              <a:rPr lang="en-US" sz="900" dirty="0">
                <a:solidFill>
                  <a:srgbClr val="D6E4F7"/>
                </a:solidFill>
                <a:latin typeface="Calibri" pitchFamily="34" charset="0"/>
                <a:ea typeface="Calibri" pitchFamily="34" charset="-122"/>
                <a:cs typeface="Calibri" pitchFamily="34" charset="-120"/>
              </a:rPr>
              <a:t>JUnit stress test: 100 simultaneous threads, 20-seat slot → exactly 20 successes, 0 overbookings, 0 duplicate enrollments.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2170</Words>
  <Application>Microsoft Office PowerPoint</Application>
  <PresentationFormat>On-screen Show (16:9)</PresentationFormat>
  <Paragraphs>285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FCFS Algorithm for Elective Registration</dc:title>
  <dc:subject>PptxGenJS Presentation</dc:subject>
  <dc:creator>Soni Priyansee Mukeshkumar</dc:creator>
  <cp:lastModifiedBy>Priyansee Soni</cp:lastModifiedBy>
  <cp:revision>2</cp:revision>
  <dcterms:created xsi:type="dcterms:W3CDTF">2026-05-11T07:22:47Z</dcterms:created>
  <dcterms:modified xsi:type="dcterms:W3CDTF">2026-05-11T10:02:30Z</dcterms:modified>
</cp:coreProperties>
</file>